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79"/>
    <p:restoredTop sz="94680"/>
  </p:normalViewPr>
  <p:slideViewPr>
    <p:cSldViewPr snapToGrid="0">
      <p:cViewPr varScale="1">
        <p:scale>
          <a:sx n="145" d="100"/>
          <a:sy n="145" d="100"/>
        </p:scale>
        <p:origin x="2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2EE29F-841B-D149-89D1-7BB7BF671671}" type="datetimeFigureOut">
              <a:rPr lang="en-US" smtClean="0"/>
              <a:t>11/28/24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34B1B4-7A5C-AA44-8C15-22E08FDC6050}" type="slidenum">
              <a:rPr lang="en-US" smtClean="0"/>
              <a:t>‹#›</a:t>
            </a:fld>
            <a:endParaRPr lang="en-US"/>
          </a:p>
        </p:txBody>
      </p:sp>
    </p:spTree>
    <p:extLst>
      <p:ext uri="{BB962C8B-B14F-4D97-AF65-F5344CB8AC3E}">
        <p14:creationId xmlns:p14="http://schemas.microsoft.com/office/powerpoint/2010/main" val="3756911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34B1B4-7A5C-AA44-8C15-22E08FDC6050}" type="slidenum">
              <a:rPr lang="en-US" smtClean="0"/>
              <a:t>10</a:t>
            </a:fld>
            <a:endParaRPr lang="en-US"/>
          </a:p>
        </p:txBody>
      </p:sp>
    </p:spTree>
    <p:extLst>
      <p:ext uri="{BB962C8B-B14F-4D97-AF65-F5344CB8AC3E}">
        <p14:creationId xmlns:p14="http://schemas.microsoft.com/office/powerpoint/2010/main" val="4097995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294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5458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9878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3377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260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354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8110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3793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8378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406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11/28/24</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501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11/28/24</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175888688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8" r:id="rId6"/>
    <p:sldLayoutId id="2147483693" r:id="rId7"/>
    <p:sldLayoutId id="2147483694" r:id="rId8"/>
    <p:sldLayoutId id="2147483695" r:id="rId9"/>
    <p:sldLayoutId id="2147483697"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doi.org/10.1038/s41467-022-32749-4"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hyperlink" Target="https://doi.org/10.1016/j.carbon.2020.10.048"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3390/ma7042490" TargetMode="External"/><Relationship Id="rId2" Type="http://schemas.openxmlformats.org/officeDocument/2006/relationships/hyperlink" Target="https://doi.org/10.3390/antib8010024" TargetMode="Externa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C60ED7-11F7-478C-AC8E-0865FABDAC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D472C551-D440-40DF-9260-BDB9AC4096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4" name="Picture 3" descr="Pastel colors in gradient surface design">
            <a:extLst>
              <a:ext uri="{FF2B5EF4-FFF2-40B4-BE49-F238E27FC236}">
                <a16:creationId xmlns:a16="http://schemas.microsoft.com/office/drawing/2014/main" id="{650C4D12-6577-6AED-2033-5AFDC5444068}"/>
              </a:ext>
            </a:extLst>
          </p:cNvPr>
          <p:cNvPicPr>
            <a:picLocks noChangeAspect="1"/>
          </p:cNvPicPr>
          <p:nvPr/>
        </p:nvPicPr>
        <p:blipFill>
          <a:blip r:embed="rId2">
            <a:duotone>
              <a:schemeClr val="accent1">
                <a:shade val="45000"/>
                <a:satMod val="135000"/>
              </a:schemeClr>
              <a:prstClr val="white"/>
            </a:duotone>
            <a:alphaModFix amt="35000"/>
          </a:blip>
          <a:srcRect t="5835" b="9895"/>
          <a:stretch/>
        </p:blipFill>
        <p:spPr>
          <a:xfrm>
            <a:off x="20" y="-8877"/>
            <a:ext cx="12191980" cy="6858000"/>
          </a:xfrm>
          <a:prstGeom prst="rect">
            <a:avLst/>
          </a:prstGeom>
        </p:spPr>
      </p:pic>
      <p:sp>
        <p:nvSpPr>
          <p:cNvPr id="2" name="Title 1">
            <a:extLst>
              <a:ext uri="{FF2B5EF4-FFF2-40B4-BE49-F238E27FC236}">
                <a16:creationId xmlns:a16="http://schemas.microsoft.com/office/drawing/2014/main" id="{BE277269-D778-5B4F-0E68-490AD62E81B5}"/>
              </a:ext>
            </a:extLst>
          </p:cNvPr>
          <p:cNvSpPr>
            <a:spLocks noGrp="1"/>
          </p:cNvSpPr>
          <p:nvPr>
            <p:ph type="ctrTitle"/>
          </p:nvPr>
        </p:nvSpPr>
        <p:spPr>
          <a:xfrm>
            <a:off x="480490" y="1225788"/>
            <a:ext cx="9906906" cy="2737071"/>
          </a:xfrm>
        </p:spPr>
        <p:txBody>
          <a:bodyPr anchor="b">
            <a:normAutofit fontScale="90000"/>
          </a:bodyPr>
          <a:lstStyle/>
          <a:p>
            <a:pPr algn="ctr"/>
            <a:r>
              <a:rPr lang="en-US" sz="6600" dirty="0">
                <a:solidFill>
                  <a:srgbClr val="FFFFFF"/>
                </a:solidFill>
              </a:rPr>
              <a:t>Development of Nanobiosensors to detect viral diseases</a:t>
            </a:r>
          </a:p>
        </p:txBody>
      </p:sp>
      <p:sp>
        <p:nvSpPr>
          <p:cNvPr id="3" name="Subtitle 2">
            <a:extLst>
              <a:ext uri="{FF2B5EF4-FFF2-40B4-BE49-F238E27FC236}">
                <a16:creationId xmlns:a16="http://schemas.microsoft.com/office/drawing/2014/main" id="{AD337E9C-63E2-FA2E-4A86-BE3D8F9192A6}"/>
              </a:ext>
            </a:extLst>
          </p:cNvPr>
          <p:cNvSpPr>
            <a:spLocks noGrp="1"/>
          </p:cNvSpPr>
          <p:nvPr>
            <p:ph type="subTitle" idx="1"/>
          </p:nvPr>
        </p:nvSpPr>
        <p:spPr>
          <a:xfrm>
            <a:off x="5930168" y="3946805"/>
            <a:ext cx="5064294" cy="584405"/>
          </a:xfrm>
        </p:spPr>
        <p:txBody>
          <a:bodyPr anchor="ctr">
            <a:normAutofit/>
          </a:bodyPr>
          <a:lstStyle/>
          <a:p>
            <a:r>
              <a:rPr lang="en-US" dirty="0">
                <a:solidFill>
                  <a:srgbClr val="FFFFFF"/>
                </a:solidFill>
              </a:rPr>
              <a:t>Under Prof. Dheerendra Singh</a:t>
            </a: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340" y="1225788"/>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4855" y="1685867"/>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9"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87962" y="2175690"/>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5" name="TextBox 4">
            <a:extLst>
              <a:ext uri="{FF2B5EF4-FFF2-40B4-BE49-F238E27FC236}">
                <a16:creationId xmlns:a16="http://schemas.microsoft.com/office/drawing/2014/main" id="{2B2F4B6F-4B91-ED38-F184-5C281C95102C}"/>
              </a:ext>
            </a:extLst>
          </p:cNvPr>
          <p:cNvSpPr txBox="1"/>
          <p:nvPr/>
        </p:nvSpPr>
        <p:spPr>
          <a:xfrm>
            <a:off x="8636300" y="5468567"/>
            <a:ext cx="3502191" cy="923330"/>
          </a:xfrm>
          <a:prstGeom prst="rect">
            <a:avLst/>
          </a:prstGeom>
          <a:noFill/>
        </p:spPr>
        <p:txBody>
          <a:bodyPr wrap="square" rtlCol="0">
            <a:spAutoFit/>
          </a:bodyPr>
          <a:lstStyle/>
          <a:p>
            <a:r>
              <a:rPr lang="en-US" dirty="0">
                <a:solidFill>
                  <a:schemeClr val="bg1"/>
                </a:solidFill>
              </a:rPr>
              <a:t>By:</a:t>
            </a:r>
          </a:p>
          <a:p>
            <a:r>
              <a:rPr lang="en-US" dirty="0">
                <a:solidFill>
                  <a:schemeClr val="bg1"/>
                </a:solidFill>
              </a:rPr>
              <a:t>Deepanshu Jain</a:t>
            </a:r>
          </a:p>
          <a:p>
            <a:r>
              <a:rPr lang="en-US" dirty="0">
                <a:solidFill>
                  <a:schemeClr val="bg1"/>
                </a:solidFill>
              </a:rPr>
              <a:t>2022B2A81582P</a:t>
            </a:r>
          </a:p>
        </p:txBody>
      </p:sp>
    </p:spTree>
    <p:extLst>
      <p:ext uri="{BB962C8B-B14F-4D97-AF65-F5344CB8AC3E}">
        <p14:creationId xmlns:p14="http://schemas.microsoft.com/office/powerpoint/2010/main" val="4288470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03F2E-A255-9414-7238-EAF9A764FE9A}"/>
              </a:ext>
            </a:extLst>
          </p:cNvPr>
          <p:cNvSpPr>
            <a:spLocks noGrp="1"/>
          </p:cNvSpPr>
          <p:nvPr>
            <p:ph type="title"/>
          </p:nvPr>
        </p:nvSpPr>
        <p:spPr>
          <a:xfrm>
            <a:off x="976545" y="282271"/>
            <a:ext cx="10515600" cy="1325563"/>
          </a:xfrm>
        </p:spPr>
        <p:txBody>
          <a:bodyPr/>
          <a:lstStyle/>
          <a:p>
            <a:r>
              <a:rPr lang="en-US" u="sng" dirty="0"/>
              <a:t>Studying about G-FET</a:t>
            </a:r>
          </a:p>
        </p:txBody>
      </p:sp>
      <p:pic>
        <p:nvPicPr>
          <p:cNvPr id="5" name="Content Placeholder 4" descr="Diagram of different types of electrical components&#10;&#10;Description automatically generated">
            <a:extLst>
              <a:ext uri="{FF2B5EF4-FFF2-40B4-BE49-F238E27FC236}">
                <a16:creationId xmlns:a16="http://schemas.microsoft.com/office/drawing/2014/main" id="{DE6791C9-69E1-7EFB-CF1E-44DF3A71E3BD}"/>
              </a:ext>
            </a:extLst>
          </p:cNvPr>
          <p:cNvPicPr>
            <a:picLocks noGrp="1" noChangeAspect="1"/>
          </p:cNvPicPr>
          <p:nvPr>
            <p:ph idx="1"/>
          </p:nvPr>
        </p:nvPicPr>
        <p:blipFill>
          <a:blip r:embed="rId2"/>
          <a:stretch>
            <a:fillRect/>
          </a:stretch>
        </p:blipFill>
        <p:spPr>
          <a:xfrm>
            <a:off x="976545" y="1665489"/>
            <a:ext cx="3630966" cy="2427488"/>
          </a:xfrm>
        </p:spPr>
      </p:pic>
      <p:sp>
        <p:nvSpPr>
          <p:cNvPr id="6" name="TextBox 5">
            <a:extLst>
              <a:ext uri="{FF2B5EF4-FFF2-40B4-BE49-F238E27FC236}">
                <a16:creationId xmlns:a16="http://schemas.microsoft.com/office/drawing/2014/main" id="{451FAFC4-047D-AC08-167D-AC6B449827EA}"/>
              </a:ext>
            </a:extLst>
          </p:cNvPr>
          <p:cNvSpPr txBox="1"/>
          <p:nvPr/>
        </p:nvSpPr>
        <p:spPr>
          <a:xfrm>
            <a:off x="5227096" y="1757779"/>
            <a:ext cx="5710193" cy="4247317"/>
          </a:xfrm>
          <a:prstGeom prst="rect">
            <a:avLst/>
          </a:prstGeom>
          <a:noFill/>
        </p:spPr>
        <p:txBody>
          <a:bodyPr wrap="square" rtlCol="0">
            <a:spAutoFit/>
          </a:bodyPr>
          <a:lstStyle/>
          <a:p>
            <a:pPr marL="285750" indent="-285750">
              <a:buFont typeface="Arial" panose="020B0604020202020204" pitchFamily="34" charset="0"/>
              <a:buChar char="•"/>
            </a:pPr>
            <a:r>
              <a:rPr lang="en-US" dirty="0"/>
              <a:t>Getting to know about the different FETs, and how GFET is the most desired device for our purpose</a:t>
            </a:r>
          </a:p>
          <a:p>
            <a:pPr marL="285750" indent="-285750">
              <a:buFont typeface="Arial" panose="020B0604020202020204" pitchFamily="34" charset="0"/>
              <a:buChar char="•"/>
            </a:pPr>
            <a:r>
              <a:rPr lang="en-US" dirty="0"/>
              <a:t>How using graphene can increasing the sensitivity of the device</a:t>
            </a:r>
          </a:p>
          <a:p>
            <a:pPr marL="285750" indent="-285750">
              <a:buFont typeface="Arial" panose="020B0604020202020204" pitchFamily="34" charset="0"/>
              <a:buChar char="•"/>
            </a:pPr>
            <a:r>
              <a:rPr lang="en-US" dirty="0"/>
              <a:t>How multi-channel graphene increases the efficiency and the LOD</a:t>
            </a:r>
          </a:p>
          <a:p>
            <a:pPr marL="285750" indent="-285750">
              <a:buFont typeface="Arial" panose="020B0604020202020204" pitchFamily="34" charset="0"/>
              <a:buChar char="•"/>
            </a:pPr>
            <a:r>
              <a:rPr lang="en-US" dirty="0"/>
              <a:t>Distinguishing single base mutation, probe density, efficiency, and getting the maximum response</a:t>
            </a:r>
          </a:p>
          <a:p>
            <a:pPr marL="285750" indent="-285750">
              <a:buFont typeface="Arial" panose="020B0604020202020204" pitchFamily="34" charset="0"/>
              <a:buChar char="•"/>
            </a:pPr>
            <a:r>
              <a:rPr lang="en-US" dirty="0"/>
              <a:t>Minimizing the leakage currents (&lt; 5 </a:t>
            </a:r>
            <a:r>
              <a:rPr lang="en-US" dirty="0" err="1"/>
              <a:t>nA</a:t>
            </a:r>
            <a:r>
              <a:rPr lang="en-US" dirty="0"/>
              <a:t>)</a:t>
            </a:r>
          </a:p>
          <a:p>
            <a:pPr marL="285750" indent="-285750">
              <a:buFont typeface="Arial" panose="020B0604020202020204" pitchFamily="34" charset="0"/>
              <a:buChar char="•"/>
            </a:pPr>
            <a:r>
              <a:rPr lang="en-US" dirty="0"/>
              <a:t>Usage of such devices to monitor the kinetics of oligonucleotide binding and un-binding by Real Time-recording of electric signals, hence getting the rate constants of such reactions. </a:t>
            </a:r>
          </a:p>
        </p:txBody>
      </p:sp>
      <p:sp>
        <p:nvSpPr>
          <p:cNvPr id="7" name="TextBox 6">
            <a:extLst>
              <a:ext uri="{FF2B5EF4-FFF2-40B4-BE49-F238E27FC236}">
                <a16:creationId xmlns:a16="http://schemas.microsoft.com/office/drawing/2014/main" id="{4C072203-2DEA-9DC0-C9E5-99E8A41F1F5D}"/>
              </a:ext>
            </a:extLst>
          </p:cNvPr>
          <p:cNvSpPr txBox="1"/>
          <p:nvPr/>
        </p:nvSpPr>
        <p:spPr>
          <a:xfrm>
            <a:off x="976545" y="4150631"/>
            <a:ext cx="3755253" cy="307777"/>
          </a:xfrm>
          <a:prstGeom prst="rect">
            <a:avLst/>
          </a:prstGeom>
          <a:noFill/>
        </p:spPr>
        <p:txBody>
          <a:bodyPr wrap="square" rtlCol="0">
            <a:spAutoFit/>
          </a:bodyPr>
          <a:lstStyle/>
          <a:p>
            <a:r>
              <a:rPr lang="en-IN" sz="700" b="0" i="0" u="none" strike="noStrike" dirty="0" err="1">
                <a:solidFill>
                  <a:srgbClr val="222222"/>
                </a:solidFill>
                <a:effectLst/>
                <a:latin typeface="Helvetica Neue" panose="02000503000000020004" pitchFamily="2" charset="0"/>
              </a:rPr>
              <a:t>Veigas</a:t>
            </a:r>
            <a:r>
              <a:rPr lang="en-IN" sz="700" b="0" i="0" u="none" strike="noStrike" dirty="0">
                <a:solidFill>
                  <a:srgbClr val="222222"/>
                </a:solidFill>
                <a:effectLst/>
                <a:latin typeface="Helvetica Neue" panose="02000503000000020004" pitchFamily="2" charset="0"/>
              </a:rPr>
              <a:t>, B.; Fortunato, E.; Baptista, P.V. Field Effect Sensors for Nucleic Acid Detection: Recent Advances and Future Perspectives. </a:t>
            </a:r>
            <a:r>
              <a:rPr lang="en-IN" sz="700" b="0" i="1" u="none" strike="noStrike" dirty="0">
                <a:solidFill>
                  <a:srgbClr val="222222"/>
                </a:solidFill>
                <a:effectLst/>
                <a:latin typeface="Helvetica Neue" panose="02000503000000020004" pitchFamily="2" charset="0"/>
              </a:rPr>
              <a:t>Sensors</a:t>
            </a:r>
            <a:r>
              <a:rPr lang="en-IN" sz="700" b="0" i="0" u="none" strike="noStrike" dirty="0">
                <a:solidFill>
                  <a:srgbClr val="222222"/>
                </a:solidFill>
                <a:effectLst/>
                <a:latin typeface="Helvetica Neue" panose="02000503000000020004" pitchFamily="2" charset="0"/>
              </a:rPr>
              <a:t> </a:t>
            </a:r>
            <a:r>
              <a:rPr lang="en-IN" sz="700" b="1" i="0" u="none" strike="noStrike" dirty="0">
                <a:solidFill>
                  <a:srgbClr val="222222"/>
                </a:solidFill>
                <a:effectLst/>
                <a:latin typeface="Helvetica Neue" panose="02000503000000020004" pitchFamily="2" charset="0"/>
              </a:rPr>
              <a:t>2015</a:t>
            </a:r>
            <a:r>
              <a:rPr lang="en-IN" sz="700" b="0" i="0" u="none" strike="noStrike" dirty="0">
                <a:solidFill>
                  <a:srgbClr val="222222"/>
                </a:solidFill>
                <a:effectLst/>
                <a:latin typeface="Helvetica Neue" panose="02000503000000020004" pitchFamily="2" charset="0"/>
              </a:rPr>
              <a:t>, </a:t>
            </a:r>
            <a:r>
              <a:rPr lang="en-IN" sz="700" b="0" i="1" u="none" strike="noStrike" dirty="0">
                <a:solidFill>
                  <a:srgbClr val="222222"/>
                </a:solidFill>
                <a:effectLst/>
                <a:latin typeface="Helvetica Neue" panose="02000503000000020004" pitchFamily="2" charset="0"/>
              </a:rPr>
              <a:t>15</a:t>
            </a:r>
            <a:r>
              <a:rPr lang="en-IN" sz="700" b="0" i="0" u="none" strike="noStrike" dirty="0">
                <a:solidFill>
                  <a:srgbClr val="222222"/>
                </a:solidFill>
                <a:effectLst/>
                <a:latin typeface="Helvetica Neue" panose="02000503000000020004" pitchFamily="2" charset="0"/>
              </a:rPr>
              <a:t>, 10380-10398.</a:t>
            </a:r>
            <a:endParaRPr lang="en-US" sz="700" dirty="0"/>
          </a:p>
        </p:txBody>
      </p:sp>
      <p:pic>
        <p:nvPicPr>
          <p:cNvPr id="9" name="Picture 8" descr="A shadow of a group of objects on a wall&#10;&#10;Description automatically generated">
            <a:extLst>
              <a:ext uri="{FF2B5EF4-FFF2-40B4-BE49-F238E27FC236}">
                <a16:creationId xmlns:a16="http://schemas.microsoft.com/office/drawing/2014/main" id="{070FB085-7BCF-B7AD-B292-67607618C28E}"/>
              </a:ext>
            </a:extLst>
          </p:cNvPr>
          <p:cNvPicPr>
            <a:picLocks noChangeAspect="1"/>
          </p:cNvPicPr>
          <p:nvPr/>
        </p:nvPicPr>
        <p:blipFill>
          <a:blip r:embed="rId3"/>
          <a:stretch>
            <a:fillRect/>
          </a:stretch>
        </p:blipFill>
        <p:spPr>
          <a:xfrm>
            <a:off x="976545" y="4516063"/>
            <a:ext cx="3298241" cy="1608233"/>
          </a:xfrm>
          <a:prstGeom prst="rect">
            <a:avLst/>
          </a:prstGeom>
        </p:spPr>
      </p:pic>
      <p:sp>
        <p:nvSpPr>
          <p:cNvPr id="10" name="TextBox 9">
            <a:extLst>
              <a:ext uri="{FF2B5EF4-FFF2-40B4-BE49-F238E27FC236}">
                <a16:creationId xmlns:a16="http://schemas.microsoft.com/office/drawing/2014/main" id="{DD7CE5E3-8DF9-5D1F-DDBA-6D1B7F3A216D}"/>
              </a:ext>
            </a:extLst>
          </p:cNvPr>
          <p:cNvSpPr txBox="1"/>
          <p:nvPr/>
        </p:nvSpPr>
        <p:spPr>
          <a:xfrm>
            <a:off x="976545" y="6181951"/>
            <a:ext cx="3369264" cy="415498"/>
          </a:xfrm>
          <a:prstGeom prst="rect">
            <a:avLst/>
          </a:prstGeom>
          <a:noFill/>
        </p:spPr>
        <p:txBody>
          <a:bodyPr wrap="square" rtlCol="0">
            <a:spAutoFit/>
          </a:bodyPr>
          <a:lstStyle/>
          <a:p>
            <a:r>
              <a:rPr lang="en-IN" sz="700" b="0" i="0" u="none" strike="noStrike" dirty="0">
                <a:solidFill>
                  <a:srgbClr val="222222"/>
                </a:solidFill>
                <a:effectLst/>
                <a:latin typeface="-apple-system"/>
              </a:rPr>
              <a:t>Xu, S., Zhan, J., Man, B. </a:t>
            </a:r>
            <a:r>
              <a:rPr lang="en-IN" sz="700" b="0" i="1" u="none" strike="noStrike" dirty="0">
                <a:solidFill>
                  <a:srgbClr val="222222"/>
                </a:solidFill>
                <a:effectLst/>
                <a:latin typeface="-apple-system"/>
              </a:rPr>
              <a:t>et al.</a:t>
            </a:r>
            <a:r>
              <a:rPr lang="en-IN" sz="700" b="0" i="0" u="none" strike="noStrike" dirty="0">
                <a:solidFill>
                  <a:srgbClr val="222222"/>
                </a:solidFill>
                <a:effectLst/>
                <a:latin typeface="-apple-system"/>
              </a:rPr>
              <a:t> Real-time reliable determination of binding kinetics of DNA hybridization using a multi-channel graphene biosensor. </a:t>
            </a:r>
            <a:r>
              <a:rPr lang="en-IN" sz="700" b="0" i="1" u="none" strike="noStrike" dirty="0">
                <a:solidFill>
                  <a:srgbClr val="222222"/>
                </a:solidFill>
                <a:effectLst/>
                <a:latin typeface="-apple-system"/>
              </a:rPr>
              <a:t>Nat Commun</a:t>
            </a:r>
            <a:r>
              <a:rPr lang="en-IN" sz="700" b="0" i="0" u="none" strike="noStrike" dirty="0">
                <a:solidFill>
                  <a:srgbClr val="222222"/>
                </a:solidFill>
                <a:effectLst/>
                <a:latin typeface="-apple-system"/>
              </a:rPr>
              <a:t> </a:t>
            </a:r>
            <a:r>
              <a:rPr lang="en-IN" sz="700" b="1" i="0" u="none" strike="noStrike" dirty="0">
                <a:solidFill>
                  <a:srgbClr val="222222"/>
                </a:solidFill>
                <a:effectLst/>
                <a:latin typeface="-apple-system"/>
              </a:rPr>
              <a:t>8</a:t>
            </a:r>
            <a:r>
              <a:rPr lang="en-IN" sz="700" b="0" i="0" u="none" strike="noStrike" dirty="0">
                <a:solidFill>
                  <a:srgbClr val="222222"/>
                </a:solidFill>
                <a:effectLst/>
                <a:latin typeface="-apple-system"/>
              </a:rPr>
              <a:t>, 14902 (2017). https://</a:t>
            </a:r>
            <a:r>
              <a:rPr lang="en-IN" sz="700" b="0" i="0" u="none" strike="noStrike" dirty="0" err="1">
                <a:solidFill>
                  <a:srgbClr val="222222"/>
                </a:solidFill>
                <a:effectLst/>
                <a:latin typeface="-apple-system"/>
              </a:rPr>
              <a:t>doi.org</a:t>
            </a:r>
            <a:r>
              <a:rPr lang="en-IN" sz="700" b="0" i="0" u="none" strike="noStrike" dirty="0">
                <a:solidFill>
                  <a:srgbClr val="222222"/>
                </a:solidFill>
                <a:effectLst/>
                <a:latin typeface="-apple-system"/>
              </a:rPr>
              <a:t>/10.1038/ncomms14902</a:t>
            </a:r>
            <a:endParaRPr lang="en-US" sz="700" dirty="0"/>
          </a:p>
        </p:txBody>
      </p:sp>
    </p:spTree>
    <p:extLst>
      <p:ext uri="{BB962C8B-B14F-4D97-AF65-F5344CB8AC3E}">
        <p14:creationId xmlns:p14="http://schemas.microsoft.com/office/powerpoint/2010/main" val="3652532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2710-A368-8265-B5BC-08BD2C427141}"/>
              </a:ext>
            </a:extLst>
          </p:cNvPr>
          <p:cNvSpPr>
            <a:spLocks noGrp="1"/>
          </p:cNvSpPr>
          <p:nvPr>
            <p:ph type="title"/>
          </p:nvPr>
        </p:nvSpPr>
        <p:spPr/>
        <p:txBody>
          <a:bodyPr/>
          <a:lstStyle/>
          <a:p>
            <a:r>
              <a:rPr lang="en-US" u="sng" dirty="0"/>
              <a:t>To increase the FET Limit of Detection</a:t>
            </a:r>
          </a:p>
        </p:txBody>
      </p:sp>
      <p:pic>
        <p:nvPicPr>
          <p:cNvPr id="5" name="Content Placeholder 4" descr="Diagram of a structure with text and words&#10;&#10;Description automatically generated">
            <a:extLst>
              <a:ext uri="{FF2B5EF4-FFF2-40B4-BE49-F238E27FC236}">
                <a16:creationId xmlns:a16="http://schemas.microsoft.com/office/drawing/2014/main" id="{8DEFD17A-4CC4-F6FA-1825-A3522718500E}"/>
              </a:ext>
            </a:extLst>
          </p:cNvPr>
          <p:cNvPicPr>
            <a:picLocks noGrp="1" noChangeAspect="1"/>
          </p:cNvPicPr>
          <p:nvPr>
            <p:ph idx="1"/>
          </p:nvPr>
        </p:nvPicPr>
        <p:blipFill>
          <a:blip r:embed="rId2"/>
          <a:stretch>
            <a:fillRect/>
          </a:stretch>
        </p:blipFill>
        <p:spPr>
          <a:xfrm>
            <a:off x="8654836" y="4553374"/>
            <a:ext cx="2563503" cy="1944726"/>
          </a:xfrm>
        </p:spPr>
      </p:pic>
      <p:sp>
        <p:nvSpPr>
          <p:cNvPr id="6" name="TextBox 5">
            <a:extLst>
              <a:ext uri="{FF2B5EF4-FFF2-40B4-BE49-F238E27FC236}">
                <a16:creationId xmlns:a16="http://schemas.microsoft.com/office/drawing/2014/main" id="{7198CF22-7202-C0F0-04FB-A4B8750F47AA}"/>
              </a:ext>
            </a:extLst>
          </p:cNvPr>
          <p:cNvSpPr txBox="1"/>
          <p:nvPr/>
        </p:nvSpPr>
        <p:spPr>
          <a:xfrm>
            <a:off x="973661" y="1690688"/>
            <a:ext cx="5276219" cy="4247317"/>
          </a:xfrm>
          <a:prstGeom prst="rect">
            <a:avLst/>
          </a:prstGeom>
          <a:noFill/>
        </p:spPr>
        <p:txBody>
          <a:bodyPr wrap="square" rtlCol="0">
            <a:spAutoFit/>
          </a:bodyPr>
          <a:lstStyle/>
          <a:p>
            <a:pPr marL="285750" indent="-285750">
              <a:buFont typeface="Arial" panose="020B0604020202020204" pitchFamily="34" charset="0"/>
              <a:buChar char="•"/>
            </a:pPr>
            <a:r>
              <a:rPr lang="en-IN" dirty="0"/>
              <a:t>The </a:t>
            </a:r>
            <a:r>
              <a:rPr lang="en-IN" dirty="0" err="1"/>
              <a:t>ultrasensitivity</a:t>
            </a:r>
            <a:r>
              <a:rPr lang="en-IN" dirty="0"/>
              <a:t> is achieved through smooth and reliable graphene </a:t>
            </a:r>
            <a:r>
              <a:rPr lang="en-IN" dirty="0" err="1"/>
              <a:t>nanogrids</a:t>
            </a:r>
            <a:r>
              <a:rPr lang="en-IN" dirty="0"/>
              <a:t>, which enhance quantum dot-like transport </a:t>
            </a:r>
            <a:r>
              <a:rPr lang="en-IN" dirty="0" err="1"/>
              <a:t>behavior</a:t>
            </a:r>
            <a:r>
              <a:rPr lang="en-IN" dirty="0"/>
              <a:t> and improve biomolecule interaction within nanopores​.</a:t>
            </a:r>
          </a:p>
          <a:p>
            <a:pPr marL="285750" indent="-285750">
              <a:buFont typeface="Arial" panose="020B0604020202020204" pitchFamily="34" charset="0"/>
              <a:buChar char="•"/>
            </a:pPr>
            <a:r>
              <a:rPr lang="en-IN" dirty="0"/>
              <a:t>Functionalization of graphene channels with APTES increases graphene's affinity for carbon quantum dots, enabling ultrasensitive detection through shifts in the charge neutrality point​</a:t>
            </a:r>
          </a:p>
          <a:p>
            <a:pPr marL="285750" indent="-285750">
              <a:buFont typeface="Arial" panose="020B0604020202020204" pitchFamily="34" charset="0"/>
              <a:buChar char="•"/>
            </a:pPr>
            <a:r>
              <a:rPr lang="en-IN" dirty="0"/>
              <a:t>Enhanced sensitivity in graphene-based FET biosensors is attributed to strong coupling effects between the graphene interface and adsorbates, tailored for virus detection​</a:t>
            </a:r>
          </a:p>
          <a:p>
            <a:pPr marL="285750" indent="-285750">
              <a:buFont typeface="Arial" panose="020B0604020202020204" pitchFamily="34" charset="0"/>
              <a:buChar char="•"/>
            </a:pPr>
            <a:endParaRPr lang="en-US" dirty="0"/>
          </a:p>
        </p:txBody>
      </p:sp>
      <p:pic>
        <p:nvPicPr>
          <p:cNvPr id="8" name="Picture 7" descr="A graph of a function&#10;&#10;Description automatically generated">
            <a:extLst>
              <a:ext uri="{FF2B5EF4-FFF2-40B4-BE49-F238E27FC236}">
                <a16:creationId xmlns:a16="http://schemas.microsoft.com/office/drawing/2014/main" id="{5F426C48-A820-3100-0F44-77161C7C1224}"/>
              </a:ext>
            </a:extLst>
          </p:cNvPr>
          <p:cNvPicPr>
            <a:picLocks noChangeAspect="1"/>
          </p:cNvPicPr>
          <p:nvPr/>
        </p:nvPicPr>
        <p:blipFill>
          <a:blip r:embed="rId3"/>
          <a:stretch>
            <a:fillRect/>
          </a:stretch>
        </p:blipFill>
        <p:spPr>
          <a:xfrm>
            <a:off x="6557639" y="1332263"/>
            <a:ext cx="3119021" cy="3346858"/>
          </a:xfrm>
          <a:prstGeom prst="rect">
            <a:avLst/>
          </a:prstGeom>
        </p:spPr>
      </p:pic>
    </p:spTree>
    <p:extLst>
      <p:ext uri="{BB962C8B-B14F-4D97-AF65-F5344CB8AC3E}">
        <p14:creationId xmlns:p14="http://schemas.microsoft.com/office/powerpoint/2010/main" val="305009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6F206-2E1C-01D6-73E6-48A857C48B43}"/>
              </a:ext>
            </a:extLst>
          </p:cNvPr>
          <p:cNvSpPr>
            <a:spLocks noGrp="1"/>
          </p:cNvSpPr>
          <p:nvPr>
            <p:ph type="title"/>
          </p:nvPr>
        </p:nvSpPr>
        <p:spPr/>
        <p:txBody>
          <a:bodyPr/>
          <a:lstStyle/>
          <a:p>
            <a:r>
              <a:rPr lang="en-US" u="sng" dirty="0"/>
              <a:t>Diseases and their detectability</a:t>
            </a:r>
          </a:p>
        </p:txBody>
      </p:sp>
      <p:sp>
        <p:nvSpPr>
          <p:cNvPr id="3" name="Content Placeholder 2">
            <a:extLst>
              <a:ext uri="{FF2B5EF4-FFF2-40B4-BE49-F238E27FC236}">
                <a16:creationId xmlns:a16="http://schemas.microsoft.com/office/drawing/2014/main" id="{A3C95044-99B2-EF98-27CD-2C6C899D30EA}"/>
              </a:ext>
            </a:extLst>
          </p:cNvPr>
          <p:cNvSpPr>
            <a:spLocks noGrp="1"/>
          </p:cNvSpPr>
          <p:nvPr>
            <p:ph idx="1"/>
          </p:nvPr>
        </p:nvSpPr>
        <p:spPr>
          <a:xfrm>
            <a:off x="5406501" y="1509204"/>
            <a:ext cx="6195873" cy="4578982"/>
          </a:xfrm>
        </p:spPr>
        <p:txBody>
          <a:bodyPr>
            <a:noAutofit/>
          </a:bodyPr>
          <a:lstStyle/>
          <a:p>
            <a:pPr marL="0" indent="0" algn="l">
              <a:lnSpc>
                <a:spcPct val="120000"/>
              </a:lnSpc>
              <a:buNone/>
            </a:pPr>
            <a:r>
              <a:rPr lang="en-IN" sz="1100" b="0" i="0" u="none" strike="noStrike" dirty="0">
                <a:solidFill>
                  <a:srgbClr val="000000"/>
                </a:solidFill>
                <a:effectLst/>
              </a:rPr>
              <a:t>Developed an </a:t>
            </a:r>
            <a:r>
              <a:rPr lang="en-IN" sz="1100" b="0" i="0" u="none" strike="noStrike" dirty="0" err="1">
                <a:solidFill>
                  <a:srgbClr val="000000"/>
                </a:solidFill>
                <a:effectLst/>
              </a:rPr>
              <a:t>In₂O</a:t>
            </a:r>
            <a:r>
              <a:rPr lang="en-IN" sz="1100" b="0" i="0" u="none" strike="noStrike" dirty="0">
                <a:solidFill>
                  <a:srgbClr val="000000"/>
                </a:solidFill>
                <a:effectLst/>
              </a:rPr>
              <a:t>₃ nanoribbon field-effect transistor biosensor for detecting SARS-CoV-2 spike protein and IgG antibodies.</a:t>
            </a:r>
          </a:p>
          <a:p>
            <a:pPr algn="l">
              <a:lnSpc>
                <a:spcPct val="120000"/>
              </a:lnSpc>
              <a:buFont typeface="Arial" panose="020B0604020202020204" pitchFamily="34" charset="0"/>
              <a:buChar char="•"/>
            </a:pPr>
            <a:r>
              <a:rPr lang="en-IN" sz="1100" b="1" i="0" u="none" strike="noStrike" dirty="0">
                <a:solidFill>
                  <a:srgbClr val="000000"/>
                </a:solidFill>
                <a:effectLst/>
              </a:rPr>
              <a:t>Disease Targeted</a:t>
            </a:r>
            <a:r>
              <a:rPr lang="en-IN" sz="1100" b="0" i="0" u="none" strike="noStrike" dirty="0">
                <a:solidFill>
                  <a:srgbClr val="000000"/>
                </a:solidFill>
                <a:effectLst/>
              </a:rPr>
              <a:t>: COVID-19 (SARS-CoV-2).</a:t>
            </a:r>
          </a:p>
          <a:p>
            <a:pPr algn="l">
              <a:lnSpc>
                <a:spcPct val="120000"/>
              </a:lnSpc>
              <a:buFont typeface="Arial" panose="020B0604020202020204" pitchFamily="34" charset="0"/>
              <a:buChar char="•"/>
            </a:pPr>
            <a:r>
              <a:rPr lang="en-IN" sz="1100" b="1" i="0" u="none" strike="noStrike" dirty="0">
                <a:solidFill>
                  <a:srgbClr val="000000"/>
                </a:solidFill>
                <a:effectLst/>
              </a:rPr>
              <a:t>Limit of Detection</a:t>
            </a:r>
            <a:r>
              <a:rPr lang="en-IN" sz="1100" b="0" i="0" u="none" strike="noStrike" dirty="0">
                <a:solidFill>
                  <a:srgbClr val="000000"/>
                </a:solidFill>
                <a:effectLst/>
              </a:rPr>
              <a:t>: 100 femtograms per </a:t>
            </a:r>
            <a:r>
              <a:rPr lang="en-IN" sz="1100" b="0" i="0" u="none" strike="noStrike" dirty="0" err="1">
                <a:solidFill>
                  <a:srgbClr val="000000"/>
                </a:solidFill>
                <a:effectLst/>
              </a:rPr>
              <a:t>milliliter</a:t>
            </a:r>
            <a:r>
              <a:rPr lang="en-IN" sz="1100" b="0" i="0" u="none" strike="noStrike" dirty="0">
                <a:solidFill>
                  <a:srgbClr val="000000"/>
                </a:solidFill>
                <a:effectLst/>
              </a:rPr>
              <a:t> (</a:t>
            </a:r>
            <a:r>
              <a:rPr lang="en-IN" sz="1100" b="0" i="0" u="none" strike="noStrike" dirty="0" err="1">
                <a:solidFill>
                  <a:srgbClr val="000000"/>
                </a:solidFill>
                <a:effectLst/>
              </a:rPr>
              <a:t>fg</a:t>
            </a:r>
            <a:r>
              <a:rPr lang="en-IN" sz="1100" b="0" i="0" u="none" strike="noStrike" dirty="0">
                <a:solidFill>
                  <a:srgbClr val="000000"/>
                </a:solidFill>
                <a:effectLst/>
              </a:rPr>
              <a:t>/mL) for spike protein and 1 picogram per </a:t>
            </a:r>
            <a:r>
              <a:rPr lang="en-IN" sz="1100" b="0" i="0" u="none" strike="noStrike" dirty="0" err="1">
                <a:solidFill>
                  <a:srgbClr val="000000"/>
                </a:solidFill>
                <a:effectLst/>
              </a:rPr>
              <a:t>milliliter</a:t>
            </a:r>
            <a:r>
              <a:rPr lang="en-IN" sz="1100" b="0" i="0" u="none" strike="noStrike" dirty="0">
                <a:solidFill>
                  <a:srgbClr val="000000"/>
                </a:solidFill>
                <a:effectLst/>
              </a:rPr>
              <a:t> (</a:t>
            </a:r>
            <a:r>
              <a:rPr lang="en-IN" sz="1100" b="0" i="0" u="none" strike="noStrike" dirty="0" err="1">
                <a:solidFill>
                  <a:srgbClr val="000000"/>
                </a:solidFill>
                <a:effectLst/>
              </a:rPr>
              <a:t>pg</a:t>
            </a:r>
            <a:r>
              <a:rPr lang="en-IN" sz="1100" b="0" i="0" u="none" strike="noStrike" dirty="0">
                <a:solidFill>
                  <a:srgbClr val="000000"/>
                </a:solidFill>
                <a:effectLst/>
              </a:rPr>
              <a:t>/mL) for IgG antibodies​</a:t>
            </a:r>
          </a:p>
          <a:p>
            <a:pPr marL="0" indent="0" algn="l">
              <a:lnSpc>
                <a:spcPct val="120000"/>
              </a:lnSpc>
              <a:buNone/>
            </a:pPr>
            <a:r>
              <a:rPr lang="en-IN" sz="1100" b="0" i="0" u="none" strike="noStrike" dirty="0">
                <a:solidFill>
                  <a:srgbClr val="000000"/>
                </a:solidFill>
                <a:effectLst/>
              </a:rPr>
              <a:t>Introduced a graphene-based FET biosensor functionalized with SARS-CoV-2 spike antibodies for rapid detection in clinical samples.</a:t>
            </a:r>
          </a:p>
          <a:p>
            <a:pPr algn="l">
              <a:lnSpc>
                <a:spcPct val="120000"/>
              </a:lnSpc>
              <a:buFont typeface="Arial" panose="020B0604020202020204" pitchFamily="34" charset="0"/>
              <a:buChar char="•"/>
            </a:pPr>
            <a:r>
              <a:rPr lang="en-IN" sz="1100" b="1" i="0" u="none" strike="noStrike" dirty="0">
                <a:solidFill>
                  <a:srgbClr val="000000"/>
                </a:solidFill>
                <a:effectLst/>
              </a:rPr>
              <a:t>Disease Targeted</a:t>
            </a:r>
            <a:r>
              <a:rPr lang="en-IN" sz="1100" b="0" i="0" u="none" strike="noStrike" dirty="0">
                <a:solidFill>
                  <a:srgbClr val="000000"/>
                </a:solidFill>
                <a:effectLst/>
              </a:rPr>
              <a:t>: COVID-19 (SARS-CoV-2).</a:t>
            </a:r>
          </a:p>
          <a:p>
            <a:pPr algn="l">
              <a:lnSpc>
                <a:spcPct val="120000"/>
              </a:lnSpc>
              <a:buFont typeface="Arial" panose="020B0604020202020204" pitchFamily="34" charset="0"/>
              <a:buChar char="•"/>
            </a:pPr>
            <a:r>
              <a:rPr lang="en-IN" sz="1100" b="1" i="0" u="none" strike="noStrike" dirty="0">
                <a:solidFill>
                  <a:srgbClr val="000000"/>
                </a:solidFill>
                <a:effectLst/>
              </a:rPr>
              <a:t>Limit of Detection</a:t>
            </a:r>
            <a:r>
              <a:rPr lang="en-IN" sz="1100" b="0" i="0" u="none" strike="noStrike" dirty="0">
                <a:solidFill>
                  <a:srgbClr val="000000"/>
                </a:solidFill>
                <a:effectLst/>
              </a:rPr>
              <a:t>: 1 femtogram per </a:t>
            </a:r>
            <a:r>
              <a:rPr lang="en-IN" sz="1100" b="0" i="0" u="none" strike="noStrike" dirty="0" err="1">
                <a:solidFill>
                  <a:srgbClr val="000000"/>
                </a:solidFill>
                <a:effectLst/>
              </a:rPr>
              <a:t>milliliter</a:t>
            </a:r>
            <a:r>
              <a:rPr lang="en-IN" sz="1100" b="0" i="0" u="none" strike="noStrike" dirty="0">
                <a:solidFill>
                  <a:srgbClr val="000000"/>
                </a:solidFill>
                <a:effectLst/>
              </a:rPr>
              <a:t> (</a:t>
            </a:r>
            <a:r>
              <a:rPr lang="en-IN" sz="1100" b="0" i="0" u="none" strike="noStrike" dirty="0" err="1">
                <a:solidFill>
                  <a:srgbClr val="000000"/>
                </a:solidFill>
                <a:effectLst/>
              </a:rPr>
              <a:t>fg</a:t>
            </a:r>
            <a:r>
              <a:rPr lang="en-IN" sz="1100" b="0" i="0" u="none" strike="noStrike" dirty="0">
                <a:solidFill>
                  <a:srgbClr val="000000"/>
                </a:solidFill>
                <a:effectLst/>
              </a:rPr>
              <a:t>/mL) in phosphate-buffered saline (PBS) and 100 </a:t>
            </a:r>
            <a:r>
              <a:rPr lang="en-IN" sz="1100" b="0" i="0" u="none" strike="noStrike" dirty="0" err="1">
                <a:solidFill>
                  <a:srgbClr val="000000"/>
                </a:solidFill>
                <a:effectLst/>
              </a:rPr>
              <a:t>fg</a:t>
            </a:r>
            <a:r>
              <a:rPr lang="en-IN" sz="1100" b="0" i="0" u="none" strike="noStrike" dirty="0">
                <a:solidFill>
                  <a:srgbClr val="000000"/>
                </a:solidFill>
                <a:effectLst/>
              </a:rPr>
              <a:t>/mL in clinical transport medium​</a:t>
            </a:r>
          </a:p>
          <a:p>
            <a:pPr marL="0" indent="0" algn="l">
              <a:lnSpc>
                <a:spcPct val="120000"/>
              </a:lnSpc>
              <a:buNone/>
            </a:pPr>
            <a:r>
              <a:rPr lang="en-IN" sz="1100" b="0" i="0" u="none" strike="noStrike" dirty="0">
                <a:solidFill>
                  <a:srgbClr val="000000"/>
                </a:solidFill>
                <a:effectLst/>
              </a:rPr>
              <a:t>Designed a carbon nanotube FET-based biosensor for rapid detection of the SARS-CoV-2 spike protein in saliva samples.</a:t>
            </a:r>
          </a:p>
          <a:p>
            <a:pPr algn="l">
              <a:lnSpc>
                <a:spcPct val="120000"/>
              </a:lnSpc>
              <a:buFont typeface="Arial" panose="020B0604020202020204" pitchFamily="34" charset="0"/>
              <a:buChar char="•"/>
            </a:pPr>
            <a:r>
              <a:rPr lang="en-IN" sz="1100" b="1" i="0" u="none" strike="noStrike" dirty="0">
                <a:solidFill>
                  <a:srgbClr val="000000"/>
                </a:solidFill>
                <a:effectLst/>
              </a:rPr>
              <a:t>Disease Targeted</a:t>
            </a:r>
            <a:r>
              <a:rPr lang="en-IN" sz="1100" b="0" i="0" u="none" strike="noStrike" dirty="0">
                <a:solidFill>
                  <a:srgbClr val="000000"/>
                </a:solidFill>
                <a:effectLst/>
              </a:rPr>
              <a:t>: COVID-19 (SARS-CoV-2).</a:t>
            </a:r>
          </a:p>
          <a:p>
            <a:pPr algn="l">
              <a:lnSpc>
                <a:spcPct val="120000"/>
              </a:lnSpc>
              <a:buFont typeface="Arial" panose="020B0604020202020204" pitchFamily="34" charset="0"/>
              <a:buChar char="•"/>
            </a:pPr>
            <a:r>
              <a:rPr lang="en-IN" sz="1100" b="1" i="0" u="none" strike="noStrike" dirty="0">
                <a:solidFill>
                  <a:srgbClr val="000000"/>
                </a:solidFill>
                <a:effectLst/>
              </a:rPr>
              <a:t>Limit of Detection</a:t>
            </a:r>
            <a:r>
              <a:rPr lang="en-IN" sz="1100" b="0" i="0" u="none" strike="noStrike" dirty="0">
                <a:solidFill>
                  <a:srgbClr val="000000"/>
                </a:solidFill>
                <a:effectLst/>
              </a:rPr>
              <a:t>: 4.12 femtograms per </a:t>
            </a:r>
            <a:r>
              <a:rPr lang="en-IN" sz="1100" b="0" i="0" u="none" strike="noStrike" dirty="0" err="1">
                <a:solidFill>
                  <a:srgbClr val="000000"/>
                </a:solidFill>
                <a:effectLst/>
              </a:rPr>
              <a:t>milliliter</a:t>
            </a:r>
            <a:r>
              <a:rPr lang="en-IN" sz="1100" b="0" i="0" u="none" strike="noStrike" dirty="0">
                <a:solidFill>
                  <a:srgbClr val="000000"/>
                </a:solidFill>
                <a:effectLst/>
              </a:rPr>
              <a:t> (</a:t>
            </a:r>
            <a:r>
              <a:rPr lang="en-IN" sz="1100" b="0" i="0" u="none" strike="noStrike" dirty="0" err="1">
                <a:solidFill>
                  <a:srgbClr val="000000"/>
                </a:solidFill>
                <a:effectLst/>
              </a:rPr>
              <a:t>fg</a:t>
            </a:r>
            <a:r>
              <a:rPr lang="en-IN" sz="1100" b="0" i="0" u="none" strike="noStrike" dirty="0">
                <a:solidFill>
                  <a:srgbClr val="000000"/>
                </a:solidFill>
                <a:effectLst/>
              </a:rPr>
              <a:t>/mL)​</a:t>
            </a:r>
          </a:p>
          <a:p>
            <a:pPr marL="0" indent="0">
              <a:lnSpc>
                <a:spcPct val="120000"/>
              </a:lnSpc>
              <a:buNone/>
            </a:pPr>
            <a:r>
              <a:rPr lang="en-IN" sz="1100" b="0" i="0" u="none" strike="noStrike" dirty="0">
                <a:solidFill>
                  <a:srgbClr val="000000"/>
                </a:solidFill>
                <a:effectLst/>
              </a:rPr>
              <a:t>Designed a graphene FET-based biosensor for quantitative detection of imatinib interactions with the Abl1 kinase, targeting chronic myeloid </a:t>
            </a:r>
            <a:r>
              <a:rPr lang="en-IN" sz="1100" b="0" i="0" u="none" strike="noStrike" dirty="0" err="1">
                <a:solidFill>
                  <a:srgbClr val="000000"/>
                </a:solidFill>
                <a:effectLst/>
              </a:rPr>
              <a:t>leukemia</a:t>
            </a:r>
            <a:r>
              <a:rPr lang="en-IN" sz="1100" b="0" i="0" u="none" strike="noStrike" dirty="0">
                <a:solidFill>
                  <a:srgbClr val="000000"/>
                </a:solidFill>
                <a:effectLst/>
              </a:rPr>
              <a:t> (CML).</a:t>
            </a:r>
          </a:p>
          <a:p>
            <a:pPr>
              <a:lnSpc>
                <a:spcPct val="120000"/>
              </a:lnSpc>
            </a:pPr>
            <a:r>
              <a:rPr lang="en-IN" sz="1100" b="1" i="0" u="none" strike="noStrike" dirty="0">
                <a:solidFill>
                  <a:srgbClr val="000000"/>
                </a:solidFill>
                <a:effectLst/>
              </a:rPr>
              <a:t>Disease Targeted:</a:t>
            </a:r>
            <a:r>
              <a:rPr lang="en-IN" sz="1100" b="0" i="0" u="none" strike="noStrike" dirty="0">
                <a:solidFill>
                  <a:srgbClr val="000000"/>
                </a:solidFill>
                <a:effectLst/>
              </a:rPr>
              <a:t> Chronic Myeloid </a:t>
            </a:r>
            <a:r>
              <a:rPr lang="en-IN" sz="1100" b="0" i="0" u="none" strike="noStrike" dirty="0" err="1">
                <a:solidFill>
                  <a:srgbClr val="000000"/>
                </a:solidFill>
                <a:effectLst/>
              </a:rPr>
              <a:t>Leukemia</a:t>
            </a:r>
            <a:r>
              <a:rPr lang="en-IN" sz="1100" b="0" i="0" u="none" strike="noStrike" dirty="0">
                <a:solidFill>
                  <a:srgbClr val="000000"/>
                </a:solidFill>
                <a:effectLst/>
              </a:rPr>
              <a:t> (CML).</a:t>
            </a:r>
          </a:p>
          <a:p>
            <a:pPr>
              <a:lnSpc>
                <a:spcPct val="120000"/>
              </a:lnSpc>
            </a:pPr>
            <a:r>
              <a:rPr lang="en-IN" sz="1100" b="1" i="0" u="none" strike="noStrike" dirty="0">
                <a:solidFill>
                  <a:srgbClr val="000000"/>
                </a:solidFill>
                <a:effectLst/>
              </a:rPr>
              <a:t>Limit of Detection:</a:t>
            </a:r>
            <a:r>
              <a:rPr lang="en-IN" sz="1100" b="0" i="0" u="none" strike="noStrike" dirty="0">
                <a:solidFill>
                  <a:srgbClr val="000000"/>
                </a:solidFill>
                <a:effectLst/>
              </a:rPr>
              <a:t> 15.5 femtomolar (</a:t>
            </a:r>
            <a:r>
              <a:rPr lang="en-IN" sz="1100" b="0" i="0" u="none" strike="noStrike" dirty="0" err="1">
                <a:solidFill>
                  <a:srgbClr val="000000"/>
                </a:solidFill>
                <a:effectLst/>
              </a:rPr>
              <a:t>fM</a:t>
            </a:r>
            <a:r>
              <a:rPr lang="en-IN" sz="1100" b="0" i="0" u="none" strike="noStrike" dirty="0">
                <a:solidFill>
                  <a:srgbClr val="000000"/>
                </a:solidFill>
                <a:effectLst/>
              </a:rPr>
              <a:t>)​​</a:t>
            </a:r>
            <a:endParaRPr lang="en-US" sz="1100" dirty="0"/>
          </a:p>
        </p:txBody>
      </p:sp>
      <p:pic>
        <p:nvPicPr>
          <p:cNvPr id="5" name="Picture 4" descr="A diagram of a virus&#10;&#10;Description automatically generated">
            <a:extLst>
              <a:ext uri="{FF2B5EF4-FFF2-40B4-BE49-F238E27FC236}">
                <a16:creationId xmlns:a16="http://schemas.microsoft.com/office/drawing/2014/main" id="{6FABABE3-B738-D3DA-87FC-F545FC22198B}"/>
              </a:ext>
            </a:extLst>
          </p:cNvPr>
          <p:cNvPicPr>
            <a:picLocks noChangeAspect="1"/>
          </p:cNvPicPr>
          <p:nvPr/>
        </p:nvPicPr>
        <p:blipFill>
          <a:blip r:embed="rId2"/>
          <a:stretch>
            <a:fillRect/>
          </a:stretch>
        </p:blipFill>
        <p:spPr>
          <a:xfrm>
            <a:off x="1107638" y="1502573"/>
            <a:ext cx="4020256" cy="2457452"/>
          </a:xfrm>
          <a:prstGeom prst="rect">
            <a:avLst/>
          </a:prstGeom>
        </p:spPr>
      </p:pic>
      <p:pic>
        <p:nvPicPr>
          <p:cNvPr id="7" name="Picture 6" descr="A blue liquid flowing into a metal surface&#10;&#10;Description automatically generated with medium confidence">
            <a:extLst>
              <a:ext uri="{FF2B5EF4-FFF2-40B4-BE49-F238E27FC236}">
                <a16:creationId xmlns:a16="http://schemas.microsoft.com/office/drawing/2014/main" id="{681CFBF2-1D00-93C1-118E-D7036B4BFD64}"/>
              </a:ext>
            </a:extLst>
          </p:cNvPr>
          <p:cNvPicPr>
            <a:picLocks noChangeAspect="1"/>
          </p:cNvPicPr>
          <p:nvPr/>
        </p:nvPicPr>
        <p:blipFill>
          <a:blip r:embed="rId3"/>
          <a:stretch>
            <a:fillRect/>
          </a:stretch>
        </p:blipFill>
        <p:spPr>
          <a:xfrm>
            <a:off x="1984121" y="4009671"/>
            <a:ext cx="3143773" cy="2691511"/>
          </a:xfrm>
          <a:prstGeom prst="rect">
            <a:avLst/>
          </a:prstGeom>
        </p:spPr>
      </p:pic>
    </p:spTree>
    <p:extLst>
      <p:ext uri="{BB962C8B-B14F-4D97-AF65-F5344CB8AC3E}">
        <p14:creationId xmlns:p14="http://schemas.microsoft.com/office/powerpoint/2010/main" val="3984256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BD174-FBE4-A5B9-E896-CBC9152ECF5D}"/>
              </a:ext>
            </a:extLst>
          </p:cNvPr>
          <p:cNvSpPr>
            <a:spLocks noGrp="1"/>
          </p:cNvSpPr>
          <p:nvPr>
            <p:ph type="title"/>
          </p:nvPr>
        </p:nvSpPr>
        <p:spPr/>
        <p:txBody>
          <a:bodyPr/>
          <a:lstStyle/>
          <a:p>
            <a:r>
              <a:rPr lang="en-US" u="sng" dirty="0"/>
              <a:t>Diseases and their detectability</a:t>
            </a:r>
            <a:endParaRPr lang="en-US" dirty="0"/>
          </a:p>
        </p:txBody>
      </p:sp>
      <p:sp>
        <p:nvSpPr>
          <p:cNvPr id="3" name="Content Placeholder 2">
            <a:extLst>
              <a:ext uri="{FF2B5EF4-FFF2-40B4-BE49-F238E27FC236}">
                <a16:creationId xmlns:a16="http://schemas.microsoft.com/office/drawing/2014/main" id="{06AE0DEC-602C-6645-668F-DDACA89787B3}"/>
              </a:ext>
            </a:extLst>
          </p:cNvPr>
          <p:cNvSpPr>
            <a:spLocks noGrp="1"/>
          </p:cNvSpPr>
          <p:nvPr>
            <p:ph idx="1"/>
          </p:nvPr>
        </p:nvSpPr>
        <p:spPr>
          <a:xfrm>
            <a:off x="989120" y="1690688"/>
            <a:ext cx="5257800" cy="4351338"/>
          </a:xfrm>
        </p:spPr>
        <p:txBody>
          <a:bodyPr>
            <a:normAutofit/>
          </a:bodyPr>
          <a:lstStyle/>
          <a:p>
            <a:pPr marL="0" indent="0">
              <a:lnSpc>
                <a:spcPct val="120000"/>
              </a:lnSpc>
              <a:buNone/>
            </a:pPr>
            <a:r>
              <a:rPr lang="en-IN" sz="1100" dirty="0">
                <a:solidFill>
                  <a:srgbClr val="000000"/>
                </a:solidFill>
              </a:rPr>
              <a:t>Designed a graphene FET-based immunosensor for ultrasensitive noncompetitive detection of the small antigen peptide BGP-C7, a marker for bone diseases.</a:t>
            </a:r>
          </a:p>
          <a:p>
            <a:pPr>
              <a:lnSpc>
                <a:spcPct val="120000"/>
              </a:lnSpc>
            </a:pPr>
            <a:r>
              <a:rPr lang="en-IN" sz="1100" b="1" dirty="0">
                <a:solidFill>
                  <a:srgbClr val="000000"/>
                </a:solidFill>
              </a:rPr>
              <a:t>Disease Targeted:</a:t>
            </a:r>
            <a:r>
              <a:rPr lang="en-IN" sz="1100" dirty="0">
                <a:solidFill>
                  <a:srgbClr val="000000"/>
                </a:solidFill>
              </a:rPr>
              <a:t> Bone-related conditions.</a:t>
            </a:r>
          </a:p>
          <a:p>
            <a:pPr>
              <a:lnSpc>
                <a:spcPct val="120000"/>
              </a:lnSpc>
            </a:pPr>
            <a:r>
              <a:rPr lang="en-IN" sz="1100" b="1" dirty="0">
                <a:solidFill>
                  <a:srgbClr val="000000"/>
                </a:solidFill>
              </a:rPr>
              <a:t>Limit of Detection: </a:t>
            </a:r>
            <a:r>
              <a:rPr lang="en-IN" sz="1100" dirty="0">
                <a:solidFill>
                  <a:srgbClr val="000000"/>
                </a:solidFill>
              </a:rPr>
              <a:t>10 femtograms per </a:t>
            </a:r>
            <a:r>
              <a:rPr lang="en-IN" sz="1100" dirty="0" err="1">
                <a:solidFill>
                  <a:srgbClr val="000000"/>
                </a:solidFill>
              </a:rPr>
              <a:t>milliliter</a:t>
            </a:r>
            <a:r>
              <a:rPr lang="en-IN" sz="1100" dirty="0">
                <a:solidFill>
                  <a:srgbClr val="000000"/>
                </a:solidFill>
              </a:rPr>
              <a:t> (</a:t>
            </a:r>
            <a:r>
              <a:rPr lang="en-IN" sz="1100" dirty="0" err="1">
                <a:solidFill>
                  <a:srgbClr val="000000"/>
                </a:solidFill>
              </a:rPr>
              <a:t>fg</a:t>
            </a:r>
            <a:r>
              <a:rPr lang="en-IN" sz="1100" dirty="0">
                <a:solidFill>
                  <a:srgbClr val="000000"/>
                </a:solidFill>
              </a:rPr>
              <a:t>/mL)</a:t>
            </a:r>
          </a:p>
          <a:p>
            <a:pPr marL="0" indent="0">
              <a:lnSpc>
                <a:spcPct val="120000"/>
              </a:lnSpc>
              <a:buNone/>
            </a:pPr>
            <a:r>
              <a:rPr lang="en-IN" sz="1100" dirty="0">
                <a:solidFill>
                  <a:srgbClr val="000000"/>
                </a:solidFill>
              </a:rPr>
              <a:t>Designed a graphene field-effect transistor (G-FET) biosensor using peptide nucleic acid (PNA) and DNA probes for the detection of RNA, with a high specificity and ultrasensitive detection limit.</a:t>
            </a:r>
          </a:p>
          <a:p>
            <a:pPr>
              <a:lnSpc>
                <a:spcPct val="120000"/>
              </a:lnSpc>
            </a:pPr>
            <a:r>
              <a:rPr lang="en-IN" sz="1100" b="1" dirty="0">
                <a:solidFill>
                  <a:srgbClr val="000000"/>
                </a:solidFill>
              </a:rPr>
              <a:t>Disease Targeted: </a:t>
            </a:r>
            <a:r>
              <a:rPr lang="en-IN" sz="1100" dirty="0">
                <a:solidFill>
                  <a:srgbClr val="000000"/>
                </a:solidFill>
              </a:rPr>
              <a:t>RNA-related conditions in clinical diagnostics.</a:t>
            </a:r>
          </a:p>
          <a:p>
            <a:pPr>
              <a:lnSpc>
                <a:spcPct val="120000"/>
              </a:lnSpc>
            </a:pPr>
            <a:r>
              <a:rPr lang="en-IN" sz="1100" b="1" dirty="0">
                <a:solidFill>
                  <a:srgbClr val="000000"/>
                </a:solidFill>
              </a:rPr>
              <a:t>Limit of Detection: </a:t>
            </a:r>
            <a:r>
              <a:rPr lang="en-IN" sz="1100" dirty="0">
                <a:solidFill>
                  <a:srgbClr val="000000"/>
                </a:solidFill>
              </a:rPr>
              <a:t>0.1 </a:t>
            </a:r>
            <a:r>
              <a:rPr lang="en-IN" sz="1100" dirty="0" err="1">
                <a:solidFill>
                  <a:srgbClr val="000000"/>
                </a:solidFill>
              </a:rPr>
              <a:t>attomolar</a:t>
            </a:r>
            <a:r>
              <a:rPr lang="en-IN" sz="1100" dirty="0">
                <a:solidFill>
                  <a:srgbClr val="000000"/>
                </a:solidFill>
              </a:rPr>
              <a:t> (</a:t>
            </a:r>
            <a:r>
              <a:rPr lang="en-IN" sz="1100" dirty="0" err="1">
                <a:solidFill>
                  <a:srgbClr val="000000"/>
                </a:solidFill>
              </a:rPr>
              <a:t>aM</a:t>
            </a:r>
            <a:r>
              <a:rPr lang="en-IN" sz="1100" dirty="0">
                <a:solidFill>
                  <a:srgbClr val="000000"/>
                </a:solidFill>
              </a:rPr>
              <a:t>) for PNA-modified G-FET sensor​​</a:t>
            </a:r>
          </a:p>
          <a:p>
            <a:pPr marL="0" indent="0">
              <a:buNone/>
            </a:pPr>
            <a:endParaRPr lang="en-US" sz="1600" dirty="0"/>
          </a:p>
        </p:txBody>
      </p:sp>
      <p:pic>
        <p:nvPicPr>
          <p:cNvPr id="5" name="Picture 4" descr="Diagram of a graphene electrode&#10;&#10;Description automatically generated">
            <a:extLst>
              <a:ext uri="{FF2B5EF4-FFF2-40B4-BE49-F238E27FC236}">
                <a16:creationId xmlns:a16="http://schemas.microsoft.com/office/drawing/2014/main" id="{4898EDAF-EA8B-B187-46A4-92604E182446}"/>
              </a:ext>
            </a:extLst>
          </p:cNvPr>
          <p:cNvPicPr>
            <a:picLocks noChangeAspect="1"/>
          </p:cNvPicPr>
          <p:nvPr/>
        </p:nvPicPr>
        <p:blipFill>
          <a:blip r:embed="rId2"/>
          <a:stretch>
            <a:fillRect/>
          </a:stretch>
        </p:blipFill>
        <p:spPr>
          <a:xfrm>
            <a:off x="6615086" y="1464603"/>
            <a:ext cx="4370548" cy="2807193"/>
          </a:xfrm>
          <a:prstGeom prst="rect">
            <a:avLst/>
          </a:prstGeom>
        </p:spPr>
      </p:pic>
      <p:pic>
        <p:nvPicPr>
          <p:cNvPr id="7" name="Picture 6" descr="A collage of different images of different textures&#10;&#10;Description automatically generated">
            <a:extLst>
              <a:ext uri="{FF2B5EF4-FFF2-40B4-BE49-F238E27FC236}">
                <a16:creationId xmlns:a16="http://schemas.microsoft.com/office/drawing/2014/main" id="{2DDD5382-AF8A-76AE-0279-8F3E52194C1A}"/>
              </a:ext>
            </a:extLst>
          </p:cNvPr>
          <p:cNvPicPr>
            <a:picLocks noChangeAspect="1"/>
          </p:cNvPicPr>
          <p:nvPr/>
        </p:nvPicPr>
        <p:blipFill>
          <a:blip r:embed="rId3"/>
          <a:stretch>
            <a:fillRect/>
          </a:stretch>
        </p:blipFill>
        <p:spPr>
          <a:xfrm>
            <a:off x="7120987" y="4458405"/>
            <a:ext cx="3358745" cy="2034470"/>
          </a:xfrm>
          <a:prstGeom prst="rect">
            <a:avLst/>
          </a:prstGeom>
        </p:spPr>
      </p:pic>
    </p:spTree>
    <p:extLst>
      <p:ext uri="{BB962C8B-B14F-4D97-AF65-F5344CB8AC3E}">
        <p14:creationId xmlns:p14="http://schemas.microsoft.com/office/powerpoint/2010/main" val="3633256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128A7-ADF2-0EA7-A089-4F7216C68EE4}"/>
              </a:ext>
            </a:extLst>
          </p:cNvPr>
          <p:cNvSpPr>
            <a:spLocks noGrp="1"/>
          </p:cNvSpPr>
          <p:nvPr>
            <p:ph type="title"/>
          </p:nvPr>
        </p:nvSpPr>
        <p:spPr/>
        <p:txBody>
          <a:bodyPr/>
          <a:lstStyle/>
          <a:p>
            <a:r>
              <a:rPr lang="en-US" u="sng" dirty="0"/>
              <a:t>Researching Papers for Referral Dimensions</a:t>
            </a:r>
          </a:p>
        </p:txBody>
      </p:sp>
      <p:sp>
        <p:nvSpPr>
          <p:cNvPr id="3" name="Content Placeholder 2">
            <a:extLst>
              <a:ext uri="{FF2B5EF4-FFF2-40B4-BE49-F238E27FC236}">
                <a16:creationId xmlns:a16="http://schemas.microsoft.com/office/drawing/2014/main" id="{9E38B995-3368-A3F4-968F-10760BCE1A9E}"/>
              </a:ext>
            </a:extLst>
          </p:cNvPr>
          <p:cNvSpPr>
            <a:spLocks noGrp="1"/>
          </p:cNvSpPr>
          <p:nvPr>
            <p:ph idx="1"/>
          </p:nvPr>
        </p:nvSpPr>
        <p:spPr>
          <a:xfrm>
            <a:off x="5513033" y="1253331"/>
            <a:ext cx="5840767" cy="4351338"/>
          </a:xfrm>
        </p:spPr>
        <p:txBody>
          <a:bodyPr>
            <a:noAutofit/>
          </a:bodyPr>
          <a:lstStyle/>
          <a:p>
            <a:pPr marL="0" indent="0" algn="l">
              <a:buNone/>
            </a:pPr>
            <a:r>
              <a:rPr lang="en-IN" sz="1100" b="1" i="0" u="none" strike="noStrike" dirty="0">
                <a:solidFill>
                  <a:srgbClr val="000000"/>
                </a:solidFill>
                <a:effectLst/>
              </a:rPr>
              <a:t>1. Graphene FET for DNA Nucleobases</a:t>
            </a:r>
          </a:p>
          <a:p>
            <a:pPr marL="0" indent="0" algn="l">
              <a:buNone/>
            </a:pPr>
            <a:r>
              <a:rPr lang="en-IN" sz="1100" b="0" i="0" u="none" strike="noStrike" dirty="0">
                <a:solidFill>
                  <a:srgbClr val="000000"/>
                </a:solidFill>
                <a:effectLst/>
              </a:rPr>
              <a:t>The study explores graphene field-effect transistors (GFETs) as highly sensitive devices for detecting DNA nucleobases (adenine, guanine, cytosine, thymine) by adsorbing them directly onto the graphene surface. The interaction alters the electronic properties of graphene, enabling molecular recognition.</a:t>
            </a:r>
          </a:p>
          <a:p>
            <a:pPr algn="l">
              <a:buFont typeface="Arial" panose="020B0604020202020204" pitchFamily="34" charset="0"/>
              <a:buChar char="•"/>
            </a:pPr>
            <a:r>
              <a:rPr lang="en-IN" sz="1100" b="1" i="0" u="none" strike="noStrike" dirty="0">
                <a:solidFill>
                  <a:srgbClr val="000000"/>
                </a:solidFill>
                <a:effectLst/>
              </a:rPr>
              <a:t>Sensitivity</a:t>
            </a:r>
            <a:r>
              <a:rPr lang="en-IN" sz="1100" b="0" i="0" u="none" strike="noStrike" dirty="0">
                <a:solidFill>
                  <a:srgbClr val="000000"/>
                </a:solidFill>
                <a:effectLst/>
              </a:rPr>
              <a:t>: The device can detect distinct conductance changes due to adsorption of individual nucleobases. Extrapolated calculations predict a charge carrier density shift (</a:t>
            </a:r>
            <a:r>
              <a:rPr lang="el-GR" sz="1100" b="0" i="0" u="none" strike="noStrike" dirty="0">
                <a:solidFill>
                  <a:srgbClr val="000000"/>
                </a:solidFill>
                <a:effectLst/>
              </a:rPr>
              <a:t>Δ</a:t>
            </a:r>
            <a:r>
              <a:rPr lang="en-IN" sz="1100" b="0" i="0" u="none" strike="noStrike" dirty="0">
                <a:solidFill>
                  <a:srgbClr val="000000"/>
                </a:solidFill>
                <a:effectLst/>
              </a:rPr>
              <a:t>n) of 106−108 e/cm2 for single nucleobase detection, indicating high sensitivity even at the nanoscale.</a:t>
            </a:r>
          </a:p>
          <a:p>
            <a:pPr algn="l">
              <a:buFont typeface="Arial" panose="020B0604020202020204" pitchFamily="34" charset="0"/>
              <a:buChar char="•"/>
            </a:pPr>
            <a:r>
              <a:rPr lang="en-IN" sz="1100" b="1" i="0" u="none" strike="noStrike" dirty="0">
                <a:solidFill>
                  <a:srgbClr val="000000"/>
                </a:solidFill>
                <a:effectLst/>
              </a:rPr>
              <a:t>Device dimensions</a:t>
            </a:r>
            <a:r>
              <a:rPr lang="en-IN" sz="1100" b="0" i="0" u="none" strike="noStrike" dirty="0">
                <a:solidFill>
                  <a:srgbClr val="000000"/>
                </a:solidFill>
                <a:effectLst/>
              </a:rPr>
              <a:t>: The GFET was fabricated using single-layer graphene channels sized 50</a:t>
            </a:r>
            <a:r>
              <a:rPr lang="el-GR" sz="1100" b="0" i="0" u="none" strike="noStrike" dirty="0">
                <a:solidFill>
                  <a:srgbClr val="000000"/>
                </a:solidFill>
                <a:effectLst/>
              </a:rPr>
              <a:t>μ</a:t>
            </a:r>
            <a:r>
              <a:rPr lang="en-IN" sz="1100" b="0" i="0" u="none" strike="noStrike" dirty="0">
                <a:solidFill>
                  <a:srgbClr val="000000"/>
                </a:solidFill>
                <a:effectLst/>
              </a:rPr>
              <a:t>m×50</a:t>
            </a:r>
            <a:r>
              <a:rPr lang="el-GR" sz="1100" b="0" i="0" u="none" strike="noStrike" dirty="0">
                <a:solidFill>
                  <a:srgbClr val="000000"/>
                </a:solidFill>
                <a:effectLst/>
              </a:rPr>
              <a:t>μ</a:t>
            </a:r>
            <a:r>
              <a:rPr lang="en-IN" sz="1100" b="0" i="0" u="none" strike="noStrike" dirty="0">
                <a:solidFill>
                  <a:srgbClr val="000000"/>
                </a:solidFill>
                <a:effectLst/>
              </a:rPr>
              <a:t>m - 200</a:t>
            </a:r>
            <a:r>
              <a:rPr lang="el-GR" sz="1100" b="0" i="0" u="none" strike="noStrike" dirty="0">
                <a:solidFill>
                  <a:srgbClr val="000000"/>
                </a:solidFill>
                <a:effectLst/>
              </a:rPr>
              <a:t>μ</a:t>
            </a:r>
            <a:r>
              <a:rPr lang="en-IN" sz="1100" b="0" i="0" u="none" strike="noStrike" dirty="0">
                <a:solidFill>
                  <a:srgbClr val="000000"/>
                </a:solidFill>
                <a:effectLst/>
              </a:rPr>
              <a:t>m on a silicon substrate with 90 nm thick SiO2​ dielectric.</a:t>
            </a:r>
          </a:p>
          <a:p>
            <a:pPr marL="0" indent="0" algn="l">
              <a:buNone/>
            </a:pPr>
            <a:r>
              <a:rPr lang="en-IN" sz="1100" b="1" i="0" u="none" strike="noStrike" dirty="0">
                <a:solidFill>
                  <a:srgbClr val="000000"/>
                </a:solidFill>
                <a:effectLst/>
              </a:rPr>
              <a:t>2. Graphene Transistor Arrays for Ion Sensing</a:t>
            </a:r>
          </a:p>
          <a:p>
            <a:pPr marL="0" indent="0" algn="l">
              <a:buNone/>
            </a:pPr>
            <a:r>
              <a:rPr lang="en-IN" sz="1100" b="0" i="0" u="none" strike="noStrike" dirty="0">
                <a:solidFill>
                  <a:srgbClr val="000000"/>
                </a:solidFill>
                <a:effectLst/>
              </a:rPr>
              <a:t>This work presents a platform with 256 graphene-based field-effect transistors arranged in a 16×16array to detect physiologically important ions like potassium (K+), sodium (Na+), and calcium (Ca2+) in real time.</a:t>
            </a:r>
          </a:p>
          <a:p>
            <a:pPr algn="l">
              <a:buFont typeface="Arial" panose="020B0604020202020204" pitchFamily="34" charset="0"/>
              <a:buChar char="•"/>
            </a:pPr>
            <a:r>
              <a:rPr lang="en-IN" sz="1100" b="1" i="0" u="none" strike="noStrike" dirty="0">
                <a:solidFill>
                  <a:srgbClr val="000000"/>
                </a:solidFill>
                <a:effectLst/>
              </a:rPr>
              <a:t>Sensitivity and Limit of Detection (LOD)</a:t>
            </a:r>
            <a:r>
              <a:rPr lang="en-IN" sz="1100" b="0" i="0" u="none" strike="noStrike" dirty="0">
                <a:solidFill>
                  <a:srgbClr val="000000"/>
                </a:solidFill>
                <a:effectLst/>
              </a:rPr>
              <a:t>:</a:t>
            </a:r>
          </a:p>
          <a:p>
            <a:pPr marL="742950" lvl="1" indent="-285750" algn="l">
              <a:buFont typeface="Arial" panose="020B0604020202020204" pitchFamily="34" charset="0"/>
              <a:buChar char="•"/>
            </a:pPr>
            <a:r>
              <a:rPr lang="en-IN" sz="1100" b="0" i="0" u="none" strike="noStrike" dirty="0">
                <a:solidFill>
                  <a:srgbClr val="000000"/>
                </a:solidFill>
                <a:effectLst/>
              </a:rPr>
              <a:t>The sensors demonstrate near-ideal Nernstian sensitivity, with average slopes of:</a:t>
            </a:r>
          </a:p>
          <a:p>
            <a:pPr marL="1143000" lvl="2" indent="-228600" algn="l">
              <a:buFont typeface="Arial" panose="020B0604020202020204" pitchFamily="34" charset="0"/>
              <a:buChar char="•"/>
            </a:pPr>
            <a:r>
              <a:rPr lang="en-IN" sz="1100" b="0" i="0" u="none" strike="noStrike" dirty="0">
                <a:solidFill>
                  <a:srgbClr val="000000"/>
                </a:solidFill>
                <a:effectLst/>
              </a:rPr>
              <a:t>K+: −54.7±2.9mV/decade</a:t>
            </a:r>
          </a:p>
          <a:p>
            <a:pPr marL="1143000" lvl="2" indent="-228600" algn="l">
              <a:buFont typeface="Arial" panose="020B0604020202020204" pitchFamily="34" charset="0"/>
              <a:buChar char="•"/>
            </a:pPr>
            <a:r>
              <a:rPr lang="en-IN" sz="1100" b="0" i="0" u="none" strike="noStrike" dirty="0">
                <a:solidFill>
                  <a:srgbClr val="000000"/>
                </a:solidFill>
                <a:effectLst/>
              </a:rPr>
              <a:t>Na+: −56.8±5.9mV/decade</a:t>
            </a:r>
          </a:p>
          <a:p>
            <a:pPr marL="1143000" lvl="2" indent="-228600" algn="l">
              <a:buFont typeface="Arial" panose="020B0604020202020204" pitchFamily="34" charset="0"/>
              <a:buChar char="•"/>
            </a:pPr>
            <a:r>
              <a:rPr lang="en-IN" sz="1100" b="0" i="0" u="none" strike="noStrike" dirty="0">
                <a:solidFill>
                  <a:srgbClr val="000000"/>
                </a:solidFill>
                <a:effectLst/>
              </a:rPr>
              <a:t>Ca2+: −30.1±1.9mV/decade</a:t>
            </a:r>
          </a:p>
          <a:p>
            <a:pPr marL="742950" lvl="1" indent="-285750" algn="l">
              <a:buFont typeface="Arial" panose="020B0604020202020204" pitchFamily="34" charset="0"/>
              <a:buChar char="•"/>
            </a:pPr>
            <a:r>
              <a:rPr lang="en-IN" sz="1100" b="0" i="0" u="none" strike="noStrike" dirty="0">
                <a:solidFill>
                  <a:srgbClr val="000000"/>
                </a:solidFill>
                <a:effectLst/>
              </a:rPr>
              <a:t>Detection range extends from 10</a:t>
            </a:r>
            <a:r>
              <a:rPr lang="el-GR" sz="1100" b="0" i="0" u="none" strike="noStrike" dirty="0">
                <a:solidFill>
                  <a:srgbClr val="000000"/>
                </a:solidFill>
                <a:effectLst/>
              </a:rPr>
              <a:t>μ</a:t>
            </a:r>
            <a:r>
              <a:rPr lang="en-IN" sz="1100" b="0" i="0" u="none" strike="noStrike" dirty="0">
                <a:solidFill>
                  <a:srgbClr val="000000"/>
                </a:solidFill>
                <a:effectLst/>
              </a:rPr>
              <a:t>M to 100mM for these ions, making it suitable for diagnostic fluids like blood, urine, and sweat.</a:t>
            </a:r>
          </a:p>
          <a:p>
            <a:pPr algn="l">
              <a:buFont typeface="Arial" panose="020B0604020202020204" pitchFamily="34" charset="0"/>
              <a:buChar char="•"/>
            </a:pPr>
            <a:r>
              <a:rPr lang="en-IN" sz="1100" b="1" i="0" u="none" strike="noStrike" dirty="0">
                <a:solidFill>
                  <a:srgbClr val="000000"/>
                </a:solidFill>
                <a:effectLst/>
              </a:rPr>
              <a:t>Device dimensions</a:t>
            </a:r>
            <a:r>
              <a:rPr lang="en-IN" sz="1100" b="0" i="0" u="none" strike="noStrike" dirty="0">
                <a:solidFill>
                  <a:srgbClr val="000000"/>
                </a:solidFill>
                <a:effectLst/>
              </a:rPr>
              <a:t>: Each sensor unit consists of a 30</a:t>
            </a:r>
            <a:r>
              <a:rPr lang="el-GR" sz="1100" b="0" i="0" u="none" strike="noStrike" dirty="0">
                <a:solidFill>
                  <a:srgbClr val="000000"/>
                </a:solidFill>
                <a:effectLst/>
              </a:rPr>
              <a:t>μ</a:t>
            </a:r>
            <a:r>
              <a:rPr lang="en-IN" sz="1100" b="0" i="0" u="none" strike="noStrike" dirty="0">
                <a:solidFill>
                  <a:srgbClr val="000000"/>
                </a:solidFill>
                <a:effectLst/>
              </a:rPr>
              <a:t>m×30</a:t>
            </a:r>
            <a:r>
              <a:rPr lang="el-GR" sz="1100" b="0" i="0" u="none" strike="noStrike" dirty="0">
                <a:solidFill>
                  <a:srgbClr val="000000"/>
                </a:solidFill>
                <a:effectLst/>
              </a:rPr>
              <a:t>μ</a:t>
            </a:r>
            <a:r>
              <a:rPr lang="en-IN" sz="1100" b="0" i="0" u="none" strike="noStrike" dirty="0">
                <a:solidFill>
                  <a:srgbClr val="000000"/>
                </a:solidFill>
                <a:effectLst/>
              </a:rPr>
              <a:t>m30</a:t>
            </a:r>
            <a:r>
              <a:rPr lang="el-GR" sz="1100" b="0" i="0" u="none" strike="noStrike" dirty="0">
                <a:solidFill>
                  <a:srgbClr val="000000"/>
                </a:solidFill>
                <a:effectLst/>
              </a:rPr>
              <a:t>μ</a:t>
            </a:r>
            <a:r>
              <a:rPr lang="en-IN" sz="1100" b="0" i="0" u="none" strike="noStrike" dirty="0">
                <a:solidFill>
                  <a:srgbClr val="000000"/>
                </a:solidFill>
                <a:effectLst/>
              </a:rPr>
              <a:t>m graphene channel with two Ti/Au electrodes (5 nm/150 nm thickness). The full platform is fabricated on a 4-inch, 200 </a:t>
            </a:r>
            <a:r>
              <a:rPr lang="el-GR" sz="1100" b="0" i="0" u="none" strike="noStrike" dirty="0">
                <a:solidFill>
                  <a:srgbClr val="000000"/>
                </a:solidFill>
                <a:effectLst/>
              </a:rPr>
              <a:t>μ</a:t>
            </a:r>
            <a:r>
              <a:rPr lang="en-IN" sz="1100" b="0" i="0" u="none" strike="noStrike" dirty="0">
                <a:solidFill>
                  <a:srgbClr val="000000"/>
                </a:solidFill>
                <a:effectLst/>
              </a:rPr>
              <a:t>m thick glass wafer.</a:t>
            </a:r>
          </a:p>
        </p:txBody>
      </p:sp>
      <p:pic>
        <p:nvPicPr>
          <p:cNvPr id="5" name="Picture 4" descr="A diagram of a diagram of a diagram&#10;&#10;Description automatically generated">
            <a:extLst>
              <a:ext uri="{FF2B5EF4-FFF2-40B4-BE49-F238E27FC236}">
                <a16:creationId xmlns:a16="http://schemas.microsoft.com/office/drawing/2014/main" id="{B8024E4D-1566-C282-3075-378D27308CAE}"/>
              </a:ext>
            </a:extLst>
          </p:cNvPr>
          <p:cNvPicPr>
            <a:picLocks noChangeAspect="1"/>
          </p:cNvPicPr>
          <p:nvPr/>
        </p:nvPicPr>
        <p:blipFill>
          <a:blip r:embed="rId2"/>
          <a:stretch>
            <a:fillRect/>
          </a:stretch>
        </p:blipFill>
        <p:spPr>
          <a:xfrm>
            <a:off x="1134369" y="1825625"/>
            <a:ext cx="4064000" cy="2247900"/>
          </a:xfrm>
          <a:prstGeom prst="rect">
            <a:avLst/>
          </a:prstGeom>
        </p:spPr>
      </p:pic>
      <p:sp>
        <p:nvSpPr>
          <p:cNvPr id="6" name="TextBox 5">
            <a:extLst>
              <a:ext uri="{FF2B5EF4-FFF2-40B4-BE49-F238E27FC236}">
                <a16:creationId xmlns:a16="http://schemas.microsoft.com/office/drawing/2014/main" id="{FE0D7A82-A102-9DF7-6BA4-C8F955461171}"/>
              </a:ext>
            </a:extLst>
          </p:cNvPr>
          <p:cNvSpPr txBox="1"/>
          <p:nvPr/>
        </p:nvSpPr>
        <p:spPr>
          <a:xfrm>
            <a:off x="1200459" y="4208462"/>
            <a:ext cx="4673600" cy="492443"/>
          </a:xfrm>
          <a:prstGeom prst="rect">
            <a:avLst/>
          </a:prstGeom>
          <a:noFill/>
        </p:spPr>
        <p:txBody>
          <a:bodyPr wrap="square" rtlCol="0">
            <a:spAutoFit/>
          </a:bodyPr>
          <a:lstStyle/>
          <a:p>
            <a:r>
              <a:rPr lang="en-IN" sz="700" i="1" dirty="0">
                <a:effectLst/>
                <a:latin typeface="Helvetica" pitchFamily="2" charset="0"/>
              </a:rPr>
              <a:t>6:6563 | DOI: 10.1038/ncomms7563 | </a:t>
            </a:r>
            <a:r>
              <a:rPr lang="en-IN" sz="700" i="1" dirty="0" err="1">
                <a:effectLst/>
                <a:latin typeface="Helvetica" pitchFamily="2" charset="0"/>
              </a:rPr>
              <a:t>www.nature.com</a:t>
            </a:r>
            <a:r>
              <a:rPr lang="en-IN" sz="700" i="1" dirty="0">
                <a:effectLst/>
                <a:latin typeface="Helvetica" pitchFamily="2" charset="0"/>
              </a:rPr>
              <a:t>/</a:t>
            </a:r>
            <a:r>
              <a:rPr lang="en-IN" sz="700" i="1" dirty="0" err="1">
                <a:effectLst/>
                <a:latin typeface="Helvetica" pitchFamily="2" charset="0"/>
              </a:rPr>
              <a:t>naturecommunications</a:t>
            </a:r>
            <a:endParaRPr lang="en-IN" sz="700" dirty="0">
              <a:effectLst/>
              <a:latin typeface="Helvetica" pitchFamily="2" charset="0"/>
            </a:endParaRPr>
          </a:p>
          <a:p>
            <a:endParaRPr lang="en-US" dirty="0"/>
          </a:p>
        </p:txBody>
      </p:sp>
      <p:pic>
        <p:nvPicPr>
          <p:cNvPr id="8" name="Picture 7" descr="A graph of a graph&#10;&#10;Description automatically generated with medium confidence">
            <a:extLst>
              <a:ext uri="{FF2B5EF4-FFF2-40B4-BE49-F238E27FC236}">
                <a16:creationId xmlns:a16="http://schemas.microsoft.com/office/drawing/2014/main" id="{DC5044A3-7F3C-7760-CB59-5591CD18F7BC}"/>
              </a:ext>
            </a:extLst>
          </p:cNvPr>
          <p:cNvPicPr>
            <a:picLocks noChangeAspect="1"/>
          </p:cNvPicPr>
          <p:nvPr/>
        </p:nvPicPr>
        <p:blipFill>
          <a:blip r:embed="rId3"/>
          <a:stretch>
            <a:fillRect/>
          </a:stretch>
        </p:blipFill>
        <p:spPr>
          <a:xfrm>
            <a:off x="1763143" y="4388524"/>
            <a:ext cx="2482912" cy="2104351"/>
          </a:xfrm>
          <a:prstGeom prst="rect">
            <a:avLst/>
          </a:prstGeom>
        </p:spPr>
      </p:pic>
      <p:sp>
        <p:nvSpPr>
          <p:cNvPr id="9" name="TextBox 8">
            <a:extLst>
              <a:ext uri="{FF2B5EF4-FFF2-40B4-BE49-F238E27FC236}">
                <a16:creationId xmlns:a16="http://schemas.microsoft.com/office/drawing/2014/main" id="{E88BF622-A90B-461D-5D03-DC904D87E584}"/>
              </a:ext>
            </a:extLst>
          </p:cNvPr>
          <p:cNvSpPr txBox="1"/>
          <p:nvPr/>
        </p:nvSpPr>
        <p:spPr>
          <a:xfrm>
            <a:off x="1843165" y="6492875"/>
            <a:ext cx="3107185" cy="307777"/>
          </a:xfrm>
          <a:prstGeom prst="rect">
            <a:avLst/>
          </a:prstGeom>
          <a:noFill/>
        </p:spPr>
        <p:txBody>
          <a:bodyPr wrap="square" rtlCol="0">
            <a:spAutoFit/>
          </a:bodyPr>
          <a:lstStyle/>
          <a:p>
            <a:r>
              <a:rPr lang="en-IN" sz="700" i="1" dirty="0">
                <a:effectLst/>
                <a:latin typeface="Helvetica" pitchFamily="2" charset="0"/>
                <a:hlinkClick r:id="rId4">
                  <a:extLst>
                    <a:ext uri="{A12FA001-AC4F-418D-AE19-62706E023703}">
                      <ahyp:hlinkClr xmlns:ahyp="http://schemas.microsoft.com/office/drawing/2018/hyperlinkcolor" val="tx"/>
                    </a:ext>
                  </a:extLst>
                </a:hlinkClick>
              </a:rPr>
              <a:t>https://doi.org/10.1038/s41467-022-32749-4</a:t>
            </a:r>
            <a:r>
              <a:rPr lang="en-US" sz="700" i="1" dirty="0">
                <a:effectLst/>
                <a:latin typeface="Helvetica" pitchFamily="2" charset="0"/>
              </a:rPr>
              <a:t> | </a:t>
            </a:r>
            <a:r>
              <a:rPr lang="en-IN" sz="700" i="1" dirty="0">
                <a:effectLst/>
                <a:latin typeface="Helvetica" pitchFamily="2" charset="0"/>
              </a:rPr>
              <a:t>( 2022) 13:5064</a:t>
            </a:r>
            <a:endParaRPr lang="en-IN" sz="700" dirty="0">
              <a:effectLst/>
              <a:latin typeface="Helvetica" pitchFamily="2" charset="0"/>
            </a:endParaRPr>
          </a:p>
          <a:p>
            <a:endParaRPr lang="en-IN" sz="700" dirty="0">
              <a:effectLst/>
              <a:latin typeface="Helvetica" pitchFamily="2" charset="0"/>
            </a:endParaRPr>
          </a:p>
        </p:txBody>
      </p:sp>
    </p:spTree>
    <p:extLst>
      <p:ext uri="{BB962C8B-B14F-4D97-AF65-F5344CB8AC3E}">
        <p14:creationId xmlns:p14="http://schemas.microsoft.com/office/powerpoint/2010/main" val="1097855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D2856-FC25-168C-B4BB-E02434E5FC47}"/>
              </a:ext>
            </a:extLst>
          </p:cNvPr>
          <p:cNvSpPr>
            <a:spLocks noGrp="1"/>
          </p:cNvSpPr>
          <p:nvPr>
            <p:ph type="title"/>
          </p:nvPr>
        </p:nvSpPr>
        <p:spPr/>
        <p:txBody>
          <a:bodyPr/>
          <a:lstStyle/>
          <a:p>
            <a:r>
              <a:rPr lang="en-US" u="sng" dirty="0"/>
              <a:t>Researching Papers for Referral Dimensions</a:t>
            </a:r>
            <a:endParaRPr lang="en-US" dirty="0"/>
          </a:p>
        </p:txBody>
      </p:sp>
      <p:sp>
        <p:nvSpPr>
          <p:cNvPr id="3" name="Content Placeholder 2">
            <a:extLst>
              <a:ext uri="{FF2B5EF4-FFF2-40B4-BE49-F238E27FC236}">
                <a16:creationId xmlns:a16="http://schemas.microsoft.com/office/drawing/2014/main" id="{F9F77E83-F69E-A523-3D80-A13D65C9C6BF}"/>
              </a:ext>
            </a:extLst>
          </p:cNvPr>
          <p:cNvSpPr>
            <a:spLocks noGrp="1"/>
          </p:cNvSpPr>
          <p:nvPr>
            <p:ph idx="1"/>
          </p:nvPr>
        </p:nvSpPr>
        <p:spPr>
          <a:xfrm>
            <a:off x="838200" y="1825625"/>
            <a:ext cx="5447190" cy="4351338"/>
          </a:xfrm>
        </p:spPr>
        <p:txBody>
          <a:bodyPr>
            <a:noAutofit/>
          </a:bodyPr>
          <a:lstStyle/>
          <a:p>
            <a:pPr marL="0" indent="0" algn="l">
              <a:buNone/>
            </a:pPr>
            <a:r>
              <a:rPr lang="en-IN" sz="1100" b="1" i="0" u="none" strike="noStrike" dirty="0">
                <a:solidFill>
                  <a:srgbClr val="000000"/>
                </a:solidFill>
                <a:effectLst/>
              </a:rPr>
              <a:t>3. Reduced Graphene Oxide FET for Ebola Antigen</a:t>
            </a:r>
          </a:p>
          <a:p>
            <a:pPr marL="0" indent="0" algn="l">
              <a:buNone/>
            </a:pPr>
            <a:r>
              <a:rPr lang="en-IN" sz="1100" b="0" i="0" u="none" strike="noStrike" dirty="0">
                <a:solidFill>
                  <a:srgbClr val="000000"/>
                </a:solidFill>
                <a:effectLst/>
              </a:rPr>
              <a:t>The paper details a reduced graphene oxide (</a:t>
            </a:r>
            <a:r>
              <a:rPr lang="en-IN" sz="1100" b="0" i="0" u="none" strike="noStrike" dirty="0" err="1">
                <a:solidFill>
                  <a:srgbClr val="000000"/>
                </a:solidFill>
                <a:effectLst/>
              </a:rPr>
              <a:t>rGO</a:t>
            </a:r>
            <a:r>
              <a:rPr lang="en-IN" sz="1100" b="0" i="0" u="none" strike="noStrike" dirty="0">
                <a:solidFill>
                  <a:srgbClr val="000000"/>
                </a:solidFill>
                <a:effectLst/>
              </a:rPr>
              <a:t>)-based FET biosensor designed for rapid and highly sensitive detection of the Ebola glycoprotein (EGP), a key antigen for diagnosing Ebola virus disease (EVD).</a:t>
            </a:r>
          </a:p>
          <a:p>
            <a:pPr algn="l">
              <a:buFont typeface="Arial" panose="020B0604020202020204" pitchFamily="34" charset="0"/>
              <a:buChar char="•"/>
            </a:pPr>
            <a:r>
              <a:rPr lang="en-IN" sz="1100" b="1" i="0" u="none" strike="noStrike" dirty="0">
                <a:solidFill>
                  <a:srgbClr val="000000"/>
                </a:solidFill>
                <a:effectLst/>
              </a:rPr>
              <a:t>Thickness</a:t>
            </a:r>
            <a:r>
              <a:rPr lang="en-IN" sz="1100" b="0" i="0" u="none" strike="noStrike" dirty="0">
                <a:solidFill>
                  <a:srgbClr val="000000"/>
                </a:solidFill>
                <a:effectLst/>
              </a:rPr>
              <a:t>: The </a:t>
            </a:r>
            <a:r>
              <a:rPr lang="en-IN" sz="1100" b="0" i="0" u="none" strike="noStrike" dirty="0" err="1">
                <a:solidFill>
                  <a:srgbClr val="000000"/>
                </a:solidFill>
                <a:effectLst/>
              </a:rPr>
              <a:t>rGO</a:t>
            </a:r>
            <a:r>
              <a:rPr lang="en-IN" sz="1100" b="0" i="0" u="none" strike="noStrike" dirty="0">
                <a:solidFill>
                  <a:srgbClr val="000000"/>
                </a:solidFill>
                <a:effectLst/>
              </a:rPr>
              <a:t> channel has a measured thickness of ~2 nm, indicating a few-layer graphene structure. The monolayer thickness is ~0.34 nm, suggesting that the </a:t>
            </a:r>
            <a:r>
              <a:rPr lang="en-IN" sz="1100" b="0" i="0" u="none" strike="noStrike" dirty="0" err="1">
                <a:solidFill>
                  <a:srgbClr val="000000"/>
                </a:solidFill>
                <a:effectLst/>
              </a:rPr>
              <a:t>rGO</a:t>
            </a:r>
            <a:r>
              <a:rPr lang="en-IN" sz="1100" b="0" i="0" u="none" strike="noStrike" dirty="0">
                <a:solidFill>
                  <a:srgbClr val="000000"/>
                </a:solidFill>
                <a:effectLst/>
              </a:rPr>
              <a:t> sheet consists of approximately six layers.</a:t>
            </a:r>
          </a:p>
          <a:p>
            <a:pPr algn="l">
              <a:buFont typeface="Arial" panose="020B0604020202020204" pitchFamily="34" charset="0"/>
              <a:buChar char="•"/>
            </a:pPr>
            <a:r>
              <a:rPr lang="en-IN" sz="1100" b="1" i="0" u="none" strike="noStrike" dirty="0">
                <a:solidFill>
                  <a:srgbClr val="000000"/>
                </a:solidFill>
                <a:effectLst/>
              </a:rPr>
              <a:t>Device fabrication</a:t>
            </a:r>
            <a:r>
              <a:rPr lang="en-IN" sz="1100" b="0" i="0" u="none" strike="noStrike" dirty="0">
                <a:solidFill>
                  <a:srgbClr val="000000"/>
                </a:solidFill>
                <a:effectLst/>
              </a:rPr>
              <a:t>: Gold nanoparticles (5 nm) are </a:t>
            </a:r>
            <a:r>
              <a:rPr lang="en-IN" sz="1100" b="0" i="0" u="none" strike="noStrike" dirty="0" err="1">
                <a:solidFill>
                  <a:srgbClr val="000000"/>
                </a:solidFill>
                <a:effectLst/>
              </a:rPr>
              <a:t>electrosprayed</a:t>
            </a:r>
            <a:r>
              <a:rPr lang="en-IN" sz="1100" b="0" i="0" u="none" strike="noStrike" dirty="0">
                <a:solidFill>
                  <a:srgbClr val="000000"/>
                </a:solidFill>
                <a:effectLst/>
              </a:rPr>
              <a:t> onto the </a:t>
            </a:r>
            <a:r>
              <a:rPr lang="en-IN" sz="1100" b="0" i="0" u="none" strike="noStrike" dirty="0" err="1">
                <a:solidFill>
                  <a:srgbClr val="000000"/>
                </a:solidFill>
                <a:effectLst/>
              </a:rPr>
              <a:t>rGO</a:t>
            </a:r>
            <a:r>
              <a:rPr lang="en-IN" sz="1100" b="0" i="0" u="none" strike="noStrike" dirty="0">
                <a:solidFill>
                  <a:srgbClr val="000000"/>
                </a:solidFill>
                <a:effectLst/>
              </a:rPr>
              <a:t> for conjugation with Ebola-specific antibodies. This ensures high selectivity for the target antigen while minimizing false positives.</a:t>
            </a:r>
          </a:p>
          <a:p>
            <a:pPr marL="0" indent="0" algn="l">
              <a:buNone/>
            </a:pPr>
            <a:r>
              <a:rPr lang="en-IN" sz="1100" b="1" dirty="0">
                <a:solidFill>
                  <a:srgbClr val="000000"/>
                </a:solidFill>
              </a:rPr>
              <a:t>4. </a:t>
            </a:r>
            <a:r>
              <a:rPr lang="en-IN" sz="1100" b="1" i="0" u="none" strike="noStrike" dirty="0">
                <a:solidFill>
                  <a:srgbClr val="000000"/>
                </a:solidFill>
                <a:effectLst/>
              </a:rPr>
              <a:t>Reduced Graphene Oxide FET for Breast Cancer Detection</a:t>
            </a:r>
          </a:p>
          <a:p>
            <a:pPr marL="0" indent="0" algn="l">
              <a:buNone/>
            </a:pPr>
            <a:r>
              <a:rPr lang="en-IN" sz="1100" b="0" i="0" u="none" strike="noStrike" dirty="0">
                <a:solidFill>
                  <a:srgbClr val="000000"/>
                </a:solidFill>
                <a:effectLst/>
              </a:rPr>
              <a:t>The paper discusses the use of reduced graphene oxide (</a:t>
            </a:r>
            <a:r>
              <a:rPr lang="en-IN" sz="1100" b="0" i="0" u="none" strike="noStrike" dirty="0" err="1">
                <a:solidFill>
                  <a:srgbClr val="000000"/>
                </a:solidFill>
                <a:effectLst/>
              </a:rPr>
              <a:t>rGO</a:t>
            </a:r>
            <a:r>
              <a:rPr lang="en-IN" sz="1100" b="0" i="0" u="none" strike="noStrike" dirty="0">
                <a:solidFill>
                  <a:srgbClr val="000000"/>
                </a:solidFill>
                <a:effectLst/>
              </a:rPr>
              <a:t>) and pristine graphene-based FET biosensors for breast cancer (BC) biomarker detection. Various biosensors target genes, antigens, and proteins associated with BC, focusing on high sensitivity and selective detection.</a:t>
            </a:r>
          </a:p>
          <a:p>
            <a:r>
              <a:rPr lang="en-IN" sz="1100" b="1" i="0" u="none" strike="noStrike" dirty="0">
                <a:solidFill>
                  <a:srgbClr val="000000"/>
                </a:solidFill>
                <a:effectLst/>
              </a:rPr>
              <a:t>Thickness</a:t>
            </a:r>
            <a:r>
              <a:rPr lang="en-IN" sz="1100" b="0" i="0" u="none" strike="noStrike" dirty="0">
                <a:solidFill>
                  <a:srgbClr val="000000"/>
                </a:solidFill>
                <a:effectLst/>
              </a:rPr>
              <a:t>: The reported graphene layers range from monolayer to multilayer, often dependent on the fabrication technique. Specific examples include crumpled graphene with high mobility (~4150 cm²/V·s).</a:t>
            </a:r>
          </a:p>
          <a:p>
            <a:r>
              <a:rPr lang="en-IN" sz="1100" b="1" i="0" u="none" strike="noStrike" dirty="0">
                <a:solidFill>
                  <a:srgbClr val="000000"/>
                </a:solidFill>
                <a:effectLst/>
              </a:rPr>
              <a:t>Device Fabrication</a:t>
            </a:r>
            <a:r>
              <a:rPr lang="en-IN" sz="1100" b="0" i="0" u="none" strike="noStrike" dirty="0">
                <a:solidFill>
                  <a:srgbClr val="000000"/>
                </a:solidFill>
                <a:effectLst/>
              </a:rPr>
              <a:t>: Techniques include chemical vapor deposition (CVD) and reduction of graphene oxide. Functionalization often employs linkers like PBASE or aptamers for target specificity. Some devices achieve LODs of 33 particles/mL (exosome detection) using </a:t>
            </a:r>
            <a:r>
              <a:rPr lang="en-IN" sz="1100" b="0" i="0" u="none" strike="noStrike" dirty="0" err="1">
                <a:solidFill>
                  <a:srgbClr val="000000"/>
                </a:solidFill>
                <a:effectLst/>
              </a:rPr>
              <a:t>rGO</a:t>
            </a:r>
            <a:r>
              <a:rPr lang="en-IN" sz="1100" b="0" i="0" u="none" strike="noStrike" dirty="0">
                <a:solidFill>
                  <a:srgbClr val="000000"/>
                </a:solidFill>
                <a:effectLst/>
              </a:rPr>
              <a:t>/PASE channels.</a:t>
            </a:r>
          </a:p>
          <a:p>
            <a:r>
              <a:rPr lang="en-IN" sz="1100" b="1" i="0" u="none" strike="noStrike" dirty="0">
                <a:solidFill>
                  <a:srgbClr val="000000"/>
                </a:solidFill>
                <a:effectLst/>
              </a:rPr>
              <a:t>Mobility</a:t>
            </a:r>
            <a:r>
              <a:rPr lang="en-IN" sz="1100" b="0" i="0" u="none" strike="noStrike" dirty="0">
                <a:solidFill>
                  <a:srgbClr val="000000"/>
                </a:solidFill>
                <a:effectLst/>
              </a:rPr>
              <a:t>: Channel mobilities range between ~14 cm²/V·s (for radicals) and ~9000 cm²/V·s (DNA sensing), influenced by factors like substrate effects, fabrication methods, and structural modifications.</a:t>
            </a:r>
          </a:p>
          <a:p>
            <a:endParaRPr lang="en-US" sz="1100" dirty="0"/>
          </a:p>
        </p:txBody>
      </p:sp>
      <p:pic>
        <p:nvPicPr>
          <p:cNvPr id="5" name="Picture 4" descr="A diagram of a voltage and a current&#10;&#10;Description automatically generated with medium confidence">
            <a:extLst>
              <a:ext uri="{FF2B5EF4-FFF2-40B4-BE49-F238E27FC236}">
                <a16:creationId xmlns:a16="http://schemas.microsoft.com/office/drawing/2014/main" id="{FE842676-D7BC-3A1D-AE4F-5D1970BF66D3}"/>
              </a:ext>
            </a:extLst>
          </p:cNvPr>
          <p:cNvPicPr>
            <a:picLocks noChangeAspect="1"/>
          </p:cNvPicPr>
          <p:nvPr/>
        </p:nvPicPr>
        <p:blipFill>
          <a:blip r:embed="rId2"/>
          <a:stretch>
            <a:fillRect/>
          </a:stretch>
        </p:blipFill>
        <p:spPr>
          <a:xfrm>
            <a:off x="6010181" y="1304855"/>
            <a:ext cx="5651863" cy="2197339"/>
          </a:xfrm>
          <a:prstGeom prst="rect">
            <a:avLst/>
          </a:prstGeom>
        </p:spPr>
      </p:pic>
      <p:pic>
        <p:nvPicPr>
          <p:cNvPr id="7" name="Picture 6" descr="A diagram of a diagram of a cell&#10;&#10;Description automatically generated">
            <a:extLst>
              <a:ext uri="{FF2B5EF4-FFF2-40B4-BE49-F238E27FC236}">
                <a16:creationId xmlns:a16="http://schemas.microsoft.com/office/drawing/2014/main" id="{2624A880-B08C-8BA8-7EA5-563A969D6189}"/>
              </a:ext>
            </a:extLst>
          </p:cNvPr>
          <p:cNvPicPr>
            <a:picLocks noChangeAspect="1"/>
          </p:cNvPicPr>
          <p:nvPr/>
        </p:nvPicPr>
        <p:blipFill>
          <a:blip r:embed="rId3"/>
          <a:stretch>
            <a:fillRect/>
          </a:stretch>
        </p:blipFill>
        <p:spPr>
          <a:xfrm>
            <a:off x="7011751" y="3665307"/>
            <a:ext cx="3648722" cy="2348543"/>
          </a:xfrm>
          <a:prstGeom prst="rect">
            <a:avLst/>
          </a:prstGeom>
        </p:spPr>
      </p:pic>
      <p:sp>
        <p:nvSpPr>
          <p:cNvPr id="8" name="TextBox 7">
            <a:extLst>
              <a:ext uri="{FF2B5EF4-FFF2-40B4-BE49-F238E27FC236}">
                <a16:creationId xmlns:a16="http://schemas.microsoft.com/office/drawing/2014/main" id="{6AC12D87-AA55-FA97-490A-D079DCE25A1E}"/>
              </a:ext>
            </a:extLst>
          </p:cNvPr>
          <p:cNvSpPr txBox="1"/>
          <p:nvPr/>
        </p:nvSpPr>
        <p:spPr>
          <a:xfrm>
            <a:off x="6862439" y="6077377"/>
            <a:ext cx="4491361" cy="307777"/>
          </a:xfrm>
          <a:prstGeom prst="rect">
            <a:avLst/>
          </a:prstGeom>
          <a:noFill/>
        </p:spPr>
        <p:txBody>
          <a:bodyPr wrap="square" rtlCol="0">
            <a:spAutoFit/>
          </a:bodyPr>
          <a:lstStyle/>
          <a:p>
            <a:r>
              <a:rPr lang="en-IN" sz="700" i="1" dirty="0">
                <a:effectLst/>
                <a:latin typeface="Times"/>
                <a:hlinkClick r:id="rId4">
                  <a:extLst>
                    <a:ext uri="{A12FA001-AC4F-418D-AE19-62706E023703}">
                      <ahyp:hlinkClr xmlns:ahyp="http://schemas.microsoft.com/office/drawing/2018/hyperlinkcolor" val="tx"/>
                    </a:ext>
                  </a:extLst>
                </a:hlinkClick>
              </a:rPr>
              <a:t>https://doi.org/10.1016/j.carbon.2020.10.048</a:t>
            </a:r>
            <a:r>
              <a:rPr lang="en-IN" sz="700" dirty="0">
                <a:latin typeface="Times"/>
              </a:rPr>
              <a:t> | </a:t>
            </a:r>
            <a:r>
              <a:rPr lang="en-IN" sz="700" i="1" dirty="0">
                <a:effectLst/>
                <a:latin typeface="Times"/>
              </a:rPr>
              <a:t>0008-6223/</a:t>
            </a:r>
            <a:r>
              <a:rPr lang="en-IN" sz="700" i="1" dirty="0">
                <a:effectLst/>
                <a:latin typeface="Helvetica" pitchFamily="2" charset="0"/>
              </a:rPr>
              <a:t>© </a:t>
            </a:r>
            <a:r>
              <a:rPr lang="en-IN" sz="700" i="1" dirty="0">
                <a:effectLst/>
                <a:latin typeface="Times"/>
              </a:rPr>
              <a:t>2020 Elsevier Ltd. All rights reserved</a:t>
            </a:r>
            <a:endParaRPr lang="en-IN" sz="700" dirty="0">
              <a:effectLst/>
              <a:latin typeface="Times"/>
            </a:endParaRPr>
          </a:p>
          <a:p>
            <a:endParaRPr lang="en-US" sz="700" dirty="0"/>
          </a:p>
        </p:txBody>
      </p:sp>
      <p:sp>
        <p:nvSpPr>
          <p:cNvPr id="9" name="TextBox 8">
            <a:extLst>
              <a:ext uri="{FF2B5EF4-FFF2-40B4-BE49-F238E27FC236}">
                <a16:creationId xmlns:a16="http://schemas.microsoft.com/office/drawing/2014/main" id="{83749340-AB65-A1A5-2786-E245D0D8C8AA}"/>
              </a:ext>
            </a:extLst>
          </p:cNvPr>
          <p:cNvSpPr txBox="1"/>
          <p:nvPr/>
        </p:nvSpPr>
        <p:spPr>
          <a:xfrm>
            <a:off x="7144917" y="3502194"/>
            <a:ext cx="3648722" cy="307777"/>
          </a:xfrm>
          <a:prstGeom prst="rect">
            <a:avLst/>
          </a:prstGeom>
          <a:noFill/>
        </p:spPr>
        <p:txBody>
          <a:bodyPr wrap="square" rtlCol="0">
            <a:spAutoFit/>
          </a:bodyPr>
          <a:lstStyle/>
          <a:p>
            <a:r>
              <a:rPr lang="en-IN" sz="700" i="1" dirty="0">
                <a:effectLst/>
                <a:latin typeface="Helvetica" pitchFamily="2" charset="0"/>
              </a:rPr>
              <a:t>Scientific Reports | 7: 10974 | DOI:10.1038/s41598-017-11387-7</a:t>
            </a:r>
            <a:endParaRPr lang="en-IN" sz="700" dirty="0">
              <a:effectLst/>
              <a:latin typeface="Helvetica" pitchFamily="2" charset="0"/>
            </a:endParaRPr>
          </a:p>
          <a:p>
            <a:endParaRPr lang="en-US" sz="700" dirty="0"/>
          </a:p>
        </p:txBody>
      </p:sp>
    </p:spTree>
    <p:extLst>
      <p:ext uri="{BB962C8B-B14F-4D97-AF65-F5344CB8AC3E}">
        <p14:creationId xmlns:p14="http://schemas.microsoft.com/office/powerpoint/2010/main" val="1091977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068C2-6146-BF4C-F599-18B0212C2593}"/>
              </a:ext>
            </a:extLst>
          </p:cNvPr>
          <p:cNvSpPr>
            <a:spLocks noGrp="1"/>
          </p:cNvSpPr>
          <p:nvPr>
            <p:ph type="title"/>
          </p:nvPr>
        </p:nvSpPr>
        <p:spPr>
          <a:xfrm>
            <a:off x="838200" y="207117"/>
            <a:ext cx="10515600" cy="1325563"/>
          </a:xfrm>
        </p:spPr>
        <p:txBody>
          <a:bodyPr/>
          <a:lstStyle/>
          <a:p>
            <a:r>
              <a:rPr lang="en-US" u="sng" dirty="0"/>
              <a:t>A Visit to CEERI and the Next Step</a:t>
            </a:r>
          </a:p>
        </p:txBody>
      </p:sp>
      <p:sp>
        <p:nvSpPr>
          <p:cNvPr id="3" name="Content Placeholder 2">
            <a:extLst>
              <a:ext uri="{FF2B5EF4-FFF2-40B4-BE49-F238E27FC236}">
                <a16:creationId xmlns:a16="http://schemas.microsoft.com/office/drawing/2014/main" id="{C28F0BBB-9796-426A-CAEA-C9BC456E3B20}"/>
              </a:ext>
            </a:extLst>
          </p:cNvPr>
          <p:cNvSpPr>
            <a:spLocks noGrp="1"/>
          </p:cNvSpPr>
          <p:nvPr>
            <p:ph idx="1"/>
          </p:nvPr>
        </p:nvSpPr>
        <p:spPr>
          <a:xfrm>
            <a:off x="5211192" y="1253331"/>
            <a:ext cx="5538925" cy="4351338"/>
          </a:xfrm>
        </p:spPr>
        <p:txBody>
          <a:bodyPr>
            <a:normAutofit/>
          </a:bodyPr>
          <a:lstStyle/>
          <a:p>
            <a:r>
              <a:rPr lang="en-IN" sz="1200" dirty="0"/>
              <a:t>The paper introduces deformed (crumpled) graphene FET biosensors that achieve unprecedented sensitivity for DNA/RNA detection, leveraging nanoscale deformations to create "electrical hot spots" that enhance biomolecular detection at ultralow concentrations.</a:t>
            </a:r>
          </a:p>
          <a:p>
            <a:r>
              <a:rPr lang="en-IN" sz="1200" b="1" dirty="0"/>
              <a:t>Noise Reduction</a:t>
            </a:r>
            <a:r>
              <a:rPr lang="en-IN" sz="1200" dirty="0"/>
              <a:t>: Noise is minimized by modulating the Debye length at concave regions of the graphene surface. These nanoscale curvatures exclude counter ions, reducing charge screening and allowing for higher sensitivity in physiological solutions.</a:t>
            </a:r>
          </a:p>
          <a:p>
            <a:r>
              <a:rPr lang="en-IN" sz="1200" b="1" dirty="0"/>
              <a:t>Sensitivity Statistics</a:t>
            </a:r>
            <a:r>
              <a:rPr lang="en-IN" sz="1200" dirty="0"/>
              <a:t>: The biosensor demonstrates detection limits of </a:t>
            </a:r>
            <a:r>
              <a:rPr lang="en-IN" sz="1200" b="1" dirty="0"/>
              <a:t>600 </a:t>
            </a:r>
            <a:r>
              <a:rPr lang="en-IN" sz="1200" b="1" dirty="0" err="1"/>
              <a:t>zM</a:t>
            </a:r>
            <a:r>
              <a:rPr lang="en-IN" sz="1200" dirty="0"/>
              <a:t> (equivalent to ~18 molecules) in buffer and </a:t>
            </a:r>
            <a:r>
              <a:rPr lang="en-IN" sz="1200" b="1" dirty="0"/>
              <a:t>20 </a:t>
            </a:r>
            <a:r>
              <a:rPr lang="en-IN" sz="1200" b="1" dirty="0" err="1"/>
              <a:t>aM</a:t>
            </a:r>
            <a:r>
              <a:rPr lang="en-IN" sz="1200" dirty="0"/>
              <a:t> in undiluted human serum for DNA/RNA, making it one of the most sensitive electronic biosensors reported to date.</a:t>
            </a:r>
          </a:p>
          <a:p>
            <a:r>
              <a:rPr lang="en-IN" sz="1200" b="1" dirty="0"/>
              <a:t>Material Innovation</a:t>
            </a:r>
            <a:r>
              <a:rPr lang="en-IN" sz="1200" dirty="0"/>
              <a:t>: The crumpled graphene introduces a bandgap that exponentially amplifies source-drain currents with minimal charge interaction, a feature absent in flat graphene structures.</a:t>
            </a:r>
          </a:p>
          <a:p>
            <a:r>
              <a:rPr lang="en-IN" sz="1200" b="1" dirty="0"/>
              <a:t>Diagnostic Potential</a:t>
            </a:r>
            <a:r>
              <a:rPr lang="en-IN" sz="1200" dirty="0"/>
              <a:t>: The biosensor can detect microRNA (e.g., let-7b) directly in complex biological fluids like serum without amplification or purification, making it a practical tool for non-invasive diagnostics and liquid biopsy applications.</a:t>
            </a:r>
          </a:p>
          <a:p>
            <a:endParaRPr lang="en-US" sz="1200" dirty="0"/>
          </a:p>
        </p:txBody>
      </p:sp>
      <p:sp>
        <p:nvSpPr>
          <p:cNvPr id="4" name="TextBox 3">
            <a:extLst>
              <a:ext uri="{FF2B5EF4-FFF2-40B4-BE49-F238E27FC236}">
                <a16:creationId xmlns:a16="http://schemas.microsoft.com/office/drawing/2014/main" id="{8DE87F95-63F7-9D57-4899-506F0FDB4898}"/>
              </a:ext>
            </a:extLst>
          </p:cNvPr>
          <p:cNvSpPr txBox="1"/>
          <p:nvPr/>
        </p:nvSpPr>
        <p:spPr>
          <a:xfrm>
            <a:off x="4990720" y="5917226"/>
            <a:ext cx="2787589" cy="523220"/>
          </a:xfrm>
          <a:prstGeom prst="rect">
            <a:avLst/>
          </a:prstGeom>
          <a:noFill/>
        </p:spPr>
        <p:txBody>
          <a:bodyPr wrap="square" rtlCol="0">
            <a:spAutoFit/>
          </a:bodyPr>
          <a:lstStyle/>
          <a:p>
            <a:r>
              <a:rPr lang="en-IN" sz="700" b="0" i="0" u="none" strike="noStrike" dirty="0">
                <a:solidFill>
                  <a:srgbClr val="222222"/>
                </a:solidFill>
                <a:effectLst/>
                <a:latin typeface="-apple-system"/>
              </a:rPr>
              <a:t>Hwang, M.T., </a:t>
            </a:r>
            <a:r>
              <a:rPr lang="en-IN" sz="700" b="0" i="0" u="none" strike="noStrike" dirty="0" err="1">
                <a:solidFill>
                  <a:srgbClr val="222222"/>
                </a:solidFill>
                <a:effectLst/>
                <a:latin typeface="-apple-system"/>
              </a:rPr>
              <a:t>Heiranian</a:t>
            </a:r>
            <a:r>
              <a:rPr lang="en-IN" sz="700" b="0" i="0" u="none" strike="noStrike" dirty="0">
                <a:solidFill>
                  <a:srgbClr val="222222"/>
                </a:solidFill>
                <a:effectLst/>
                <a:latin typeface="-apple-system"/>
              </a:rPr>
              <a:t>, M., Kim, Y. </a:t>
            </a:r>
            <a:r>
              <a:rPr lang="en-IN" sz="700" b="0" i="1" u="none" strike="noStrike" dirty="0">
                <a:solidFill>
                  <a:srgbClr val="222222"/>
                </a:solidFill>
                <a:effectLst/>
                <a:latin typeface="-apple-system"/>
              </a:rPr>
              <a:t>et al.</a:t>
            </a:r>
            <a:r>
              <a:rPr lang="en-IN" sz="700" b="0" i="0" u="none" strike="noStrike" dirty="0">
                <a:solidFill>
                  <a:srgbClr val="222222"/>
                </a:solidFill>
                <a:effectLst/>
                <a:latin typeface="-apple-system"/>
              </a:rPr>
              <a:t> Ultrasensitive detection of nucleic acids using deformed graphene channel field effect biosensors. </a:t>
            </a:r>
            <a:r>
              <a:rPr lang="en-IN" sz="700" b="0" i="1" u="none" strike="noStrike" dirty="0">
                <a:solidFill>
                  <a:srgbClr val="222222"/>
                </a:solidFill>
                <a:effectLst/>
                <a:latin typeface="-apple-system"/>
              </a:rPr>
              <a:t>Nat Commun</a:t>
            </a:r>
            <a:r>
              <a:rPr lang="en-IN" sz="700" b="0" i="0" u="none" strike="noStrike" dirty="0">
                <a:solidFill>
                  <a:srgbClr val="222222"/>
                </a:solidFill>
                <a:effectLst/>
                <a:latin typeface="-apple-system"/>
              </a:rPr>
              <a:t> </a:t>
            </a:r>
            <a:r>
              <a:rPr lang="en-IN" sz="700" b="1" i="0" u="none" strike="noStrike" dirty="0">
                <a:solidFill>
                  <a:srgbClr val="222222"/>
                </a:solidFill>
                <a:effectLst/>
                <a:latin typeface="-apple-system"/>
              </a:rPr>
              <a:t>11</a:t>
            </a:r>
            <a:r>
              <a:rPr lang="en-IN" sz="700" b="0" i="0" u="none" strike="noStrike" dirty="0">
                <a:solidFill>
                  <a:srgbClr val="222222"/>
                </a:solidFill>
                <a:effectLst/>
                <a:latin typeface="-apple-system"/>
              </a:rPr>
              <a:t>, 1543 (2020). https://</a:t>
            </a:r>
            <a:r>
              <a:rPr lang="en-IN" sz="700" b="0" i="0" u="none" strike="noStrike" dirty="0" err="1">
                <a:solidFill>
                  <a:srgbClr val="222222"/>
                </a:solidFill>
                <a:effectLst/>
                <a:latin typeface="-apple-system"/>
              </a:rPr>
              <a:t>doi.org</a:t>
            </a:r>
            <a:r>
              <a:rPr lang="en-IN" sz="700" b="0" i="0" u="none" strike="noStrike" dirty="0">
                <a:solidFill>
                  <a:srgbClr val="222222"/>
                </a:solidFill>
                <a:effectLst/>
                <a:latin typeface="-apple-system"/>
              </a:rPr>
              <a:t>/10.1038/s41467-020-15330-9</a:t>
            </a:r>
            <a:endParaRPr lang="en-US" sz="700" dirty="0"/>
          </a:p>
        </p:txBody>
      </p:sp>
      <p:pic>
        <p:nvPicPr>
          <p:cNvPr id="6" name="Picture 5" descr="A diagram of a graphene&#10;&#10;Description automatically generated">
            <a:extLst>
              <a:ext uri="{FF2B5EF4-FFF2-40B4-BE49-F238E27FC236}">
                <a16:creationId xmlns:a16="http://schemas.microsoft.com/office/drawing/2014/main" id="{68960ECE-42D6-8555-402B-8ABB39A1BE6C}"/>
              </a:ext>
            </a:extLst>
          </p:cNvPr>
          <p:cNvPicPr>
            <a:picLocks noChangeAspect="1"/>
          </p:cNvPicPr>
          <p:nvPr/>
        </p:nvPicPr>
        <p:blipFill>
          <a:blip r:embed="rId2"/>
          <a:stretch>
            <a:fillRect/>
          </a:stretch>
        </p:blipFill>
        <p:spPr>
          <a:xfrm>
            <a:off x="838200" y="1683973"/>
            <a:ext cx="3991252" cy="4907811"/>
          </a:xfrm>
          <a:prstGeom prst="rect">
            <a:avLst/>
          </a:prstGeom>
        </p:spPr>
      </p:pic>
      <p:pic>
        <p:nvPicPr>
          <p:cNvPr id="8" name="Picture 7" descr="A diagram of a diagram of a wave&#10;&#10;Description automatically generated with medium confidence">
            <a:extLst>
              <a:ext uri="{FF2B5EF4-FFF2-40B4-BE49-F238E27FC236}">
                <a16:creationId xmlns:a16="http://schemas.microsoft.com/office/drawing/2014/main" id="{98690BF8-6B8C-130A-4D8B-5068D79EFCFF}"/>
              </a:ext>
            </a:extLst>
          </p:cNvPr>
          <p:cNvPicPr>
            <a:picLocks noChangeAspect="1"/>
          </p:cNvPicPr>
          <p:nvPr/>
        </p:nvPicPr>
        <p:blipFill>
          <a:blip r:embed="rId3"/>
          <a:stretch>
            <a:fillRect/>
          </a:stretch>
        </p:blipFill>
        <p:spPr>
          <a:xfrm>
            <a:off x="7778309" y="4819882"/>
            <a:ext cx="3273649" cy="1933121"/>
          </a:xfrm>
          <a:prstGeom prst="rect">
            <a:avLst/>
          </a:prstGeom>
        </p:spPr>
      </p:pic>
    </p:spTree>
    <p:extLst>
      <p:ext uri="{BB962C8B-B14F-4D97-AF65-F5344CB8AC3E}">
        <p14:creationId xmlns:p14="http://schemas.microsoft.com/office/powerpoint/2010/main" val="766789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510EE-362C-0A67-37B2-068AA718BCF4}"/>
              </a:ext>
            </a:extLst>
          </p:cNvPr>
          <p:cNvSpPr>
            <a:spLocks noGrp="1"/>
          </p:cNvSpPr>
          <p:nvPr>
            <p:ph type="title"/>
          </p:nvPr>
        </p:nvSpPr>
        <p:spPr/>
        <p:txBody>
          <a:bodyPr/>
          <a:lstStyle/>
          <a:p>
            <a:r>
              <a:rPr lang="en-US" u="sng" dirty="0"/>
              <a:t>Deducing a Fabrication Process</a:t>
            </a:r>
          </a:p>
        </p:txBody>
      </p:sp>
      <p:pic>
        <p:nvPicPr>
          <p:cNvPr id="5" name="Content Placeholder 4" descr="A notebook with writing on it&#10;&#10;Description automatically generated">
            <a:extLst>
              <a:ext uri="{FF2B5EF4-FFF2-40B4-BE49-F238E27FC236}">
                <a16:creationId xmlns:a16="http://schemas.microsoft.com/office/drawing/2014/main" id="{6D098058-485C-6F06-1E1D-92380B3700FA}"/>
              </a:ext>
            </a:extLst>
          </p:cNvPr>
          <p:cNvPicPr>
            <a:picLocks noGrp="1" noChangeAspect="1"/>
          </p:cNvPicPr>
          <p:nvPr>
            <p:ph idx="1"/>
          </p:nvPr>
        </p:nvPicPr>
        <p:blipFill>
          <a:blip r:embed="rId2"/>
          <a:stretch>
            <a:fillRect/>
          </a:stretch>
        </p:blipFill>
        <p:spPr>
          <a:xfrm rot="5400000">
            <a:off x="830874" y="2106781"/>
            <a:ext cx="4638583" cy="3478937"/>
          </a:xfrm>
        </p:spPr>
      </p:pic>
      <p:pic>
        <p:nvPicPr>
          <p:cNvPr id="7" name="Picture 6" descr="A notebook with writing on it&#10;&#10;Description automatically generated">
            <a:extLst>
              <a:ext uri="{FF2B5EF4-FFF2-40B4-BE49-F238E27FC236}">
                <a16:creationId xmlns:a16="http://schemas.microsoft.com/office/drawing/2014/main" id="{7BF992F1-ED30-F3E6-045F-AF26D29A43C1}"/>
              </a:ext>
            </a:extLst>
          </p:cNvPr>
          <p:cNvPicPr>
            <a:picLocks noChangeAspect="1"/>
          </p:cNvPicPr>
          <p:nvPr/>
        </p:nvPicPr>
        <p:blipFill>
          <a:blip r:embed="rId3"/>
          <a:stretch>
            <a:fillRect/>
          </a:stretch>
        </p:blipFill>
        <p:spPr>
          <a:xfrm rot="5400000">
            <a:off x="5606062" y="2106779"/>
            <a:ext cx="4638585" cy="3478939"/>
          </a:xfrm>
          <a:prstGeom prst="rect">
            <a:avLst/>
          </a:prstGeom>
        </p:spPr>
      </p:pic>
      <p:sp>
        <p:nvSpPr>
          <p:cNvPr id="8" name="Right Arrow 7">
            <a:extLst>
              <a:ext uri="{FF2B5EF4-FFF2-40B4-BE49-F238E27FC236}">
                <a16:creationId xmlns:a16="http://schemas.microsoft.com/office/drawing/2014/main" id="{B3D1C20C-F9BB-6FC4-7E41-2839A71E4D82}"/>
              </a:ext>
            </a:extLst>
          </p:cNvPr>
          <p:cNvSpPr/>
          <p:nvPr/>
        </p:nvSpPr>
        <p:spPr>
          <a:xfrm>
            <a:off x="5033639" y="3266983"/>
            <a:ext cx="967666" cy="230819"/>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60A78A0-CCDC-E621-3D96-ACDF719C9DB1}"/>
              </a:ext>
            </a:extLst>
          </p:cNvPr>
          <p:cNvSpPr txBox="1"/>
          <p:nvPr/>
        </p:nvSpPr>
        <p:spPr>
          <a:xfrm>
            <a:off x="8929457" y="6165541"/>
            <a:ext cx="3159711" cy="861774"/>
          </a:xfrm>
          <a:prstGeom prst="rect">
            <a:avLst/>
          </a:prstGeom>
          <a:noFill/>
        </p:spPr>
        <p:txBody>
          <a:bodyPr wrap="square" rtlCol="0">
            <a:spAutoFit/>
          </a:bodyPr>
          <a:lstStyle/>
          <a:p>
            <a:r>
              <a:rPr lang="en-IN" sz="800" b="0" i="0" u="none" strike="noStrike" dirty="0">
                <a:solidFill>
                  <a:srgbClr val="222222"/>
                </a:solidFill>
                <a:effectLst/>
                <a:latin typeface="-apple-system"/>
              </a:rPr>
              <a:t>Hwang, M.T., </a:t>
            </a:r>
            <a:r>
              <a:rPr lang="en-IN" sz="800" b="0" i="0" u="none" strike="noStrike" dirty="0" err="1">
                <a:solidFill>
                  <a:srgbClr val="222222"/>
                </a:solidFill>
                <a:effectLst/>
                <a:latin typeface="-apple-system"/>
              </a:rPr>
              <a:t>Heiranian</a:t>
            </a:r>
            <a:r>
              <a:rPr lang="en-IN" sz="800" b="0" i="0" u="none" strike="noStrike" dirty="0">
                <a:solidFill>
                  <a:srgbClr val="222222"/>
                </a:solidFill>
                <a:effectLst/>
                <a:latin typeface="-apple-system"/>
              </a:rPr>
              <a:t>, M., Kim, Y. </a:t>
            </a:r>
            <a:r>
              <a:rPr lang="en-IN" sz="800" b="0" i="1" u="none" strike="noStrike" dirty="0">
                <a:solidFill>
                  <a:srgbClr val="222222"/>
                </a:solidFill>
                <a:effectLst/>
                <a:latin typeface="-apple-system"/>
              </a:rPr>
              <a:t>et al.</a:t>
            </a:r>
            <a:r>
              <a:rPr lang="en-IN" sz="800" b="0" i="0" u="none" strike="noStrike" dirty="0">
                <a:solidFill>
                  <a:srgbClr val="222222"/>
                </a:solidFill>
                <a:effectLst/>
                <a:latin typeface="-apple-system"/>
              </a:rPr>
              <a:t> Ultrasensitive detection of nucleic acids using deformed graphene channel field effect biosensors. </a:t>
            </a:r>
            <a:r>
              <a:rPr lang="en-IN" sz="800" b="0" i="1" u="none" strike="noStrike" dirty="0">
                <a:solidFill>
                  <a:srgbClr val="222222"/>
                </a:solidFill>
                <a:effectLst/>
                <a:latin typeface="-apple-system"/>
              </a:rPr>
              <a:t>Nat Commun</a:t>
            </a:r>
            <a:r>
              <a:rPr lang="en-IN" sz="800" b="0" i="0" u="none" strike="noStrike" dirty="0">
                <a:solidFill>
                  <a:srgbClr val="222222"/>
                </a:solidFill>
                <a:effectLst/>
                <a:latin typeface="-apple-system"/>
              </a:rPr>
              <a:t> </a:t>
            </a:r>
            <a:r>
              <a:rPr lang="en-IN" sz="800" b="1" i="0" u="none" strike="noStrike" dirty="0">
                <a:solidFill>
                  <a:srgbClr val="222222"/>
                </a:solidFill>
                <a:effectLst/>
                <a:latin typeface="-apple-system"/>
              </a:rPr>
              <a:t>11</a:t>
            </a:r>
            <a:r>
              <a:rPr lang="en-IN" sz="800" b="0" i="0" u="none" strike="noStrike" dirty="0">
                <a:solidFill>
                  <a:srgbClr val="222222"/>
                </a:solidFill>
                <a:effectLst/>
                <a:latin typeface="-apple-system"/>
              </a:rPr>
              <a:t>, 1543 (2020). https://</a:t>
            </a:r>
            <a:r>
              <a:rPr lang="en-IN" sz="800" b="0" i="0" u="none" strike="noStrike" dirty="0" err="1">
                <a:solidFill>
                  <a:srgbClr val="222222"/>
                </a:solidFill>
                <a:effectLst/>
                <a:latin typeface="-apple-system"/>
              </a:rPr>
              <a:t>doi.org</a:t>
            </a:r>
            <a:r>
              <a:rPr lang="en-IN" sz="800" b="0" i="0" u="none" strike="noStrike" dirty="0">
                <a:solidFill>
                  <a:srgbClr val="222222"/>
                </a:solidFill>
                <a:effectLst/>
                <a:latin typeface="-apple-system"/>
              </a:rPr>
              <a:t>/10.1038/s41467-020-15330-9</a:t>
            </a:r>
            <a:endParaRPr lang="en-US" sz="800" dirty="0"/>
          </a:p>
          <a:p>
            <a:endParaRPr lang="en-US" dirty="0"/>
          </a:p>
        </p:txBody>
      </p:sp>
    </p:spTree>
    <p:extLst>
      <p:ext uri="{BB962C8B-B14F-4D97-AF65-F5344CB8AC3E}">
        <p14:creationId xmlns:p14="http://schemas.microsoft.com/office/powerpoint/2010/main" val="474589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27534-F96C-E26B-2B47-985C4B357C0E}"/>
              </a:ext>
            </a:extLst>
          </p:cNvPr>
          <p:cNvSpPr>
            <a:spLocks noGrp="1"/>
          </p:cNvSpPr>
          <p:nvPr>
            <p:ph type="title"/>
          </p:nvPr>
        </p:nvSpPr>
        <p:spPr/>
        <p:txBody>
          <a:bodyPr/>
          <a:lstStyle/>
          <a:p>
            <a:r>
              <a:rPr lang="en-US" u="sng" dirty="0"/>
              <a:t>A Step Forward</a:t>
            </a:r>
          </a:p>
        </p:txBody>
      </p:sp>
      <p:sp>
        <p:nvSpPr>
          <p:cNvPr id="3" name="Content Placeholder 2">
            <a:extLst>
              <a:ext uri="{FF2B5EF4-FFF2-40B4-BE49-F238E27FC236}">
                <a16:creationId xmlns:a16="http://schemas.microsoft.com/office/drawing/2014/main" id="{22450263-A22D-CF2E-1924-1B4AF21C5357}"/>
              </a:ext>
            </a:extLst>
          </p:cNvPr>
          <p:cNvSpPr>
            <a:spLocks noGrp="1"/>
          </p:cNvSpPr>
          <p:nvPr>
            <p:ph idx="1"/>
          </p:nvPr>
        </p:nvSpPr>
        <p:spPr>
          <a:xfrm>
            <a:off x="838200" y="1825625"/>
            <a:ext cx="5012184" cy="4351338"/>
          </a:xfrm>
        </p:spPr>
        <p:txBody>
          <a:bodyPr>
            <a:normAutofit/>
          </a:bodyPr>
          <a:lstStyle/>
          <a:p>
            <a:r>
              <a:rPr lang="en-IN" sz="1400" b="1" dirty="0">
                <a:effectLst/>
              </a:rPr>
              <a:t>Introduction to TCAD Sentaurus: </a:t>
            </a:r>
            <a:r>
              <a:rPr lang="en-IN" sz="1400" dirty="0">
                <a:effectLst/>
              </a:rPr>
              <a:t>Guided to learn the Sentaurus TCAD software for simulations. Utilized a combination of online resources, including YouTube tutorials and official Sentaurus documentation, to become proficient in its usage.</a:t>
            </a:r>
          </a:p>
          <a:p>
            <a:r>
              <a:rPr lang="en-IN" sz="1400" b="1" dirty="0">
                <a:effectLst/>
              </a:rPr>
              <a:t>Setup and Familiarization: </a:t>
            </a:r>
            <a:r>
              <a:rPr lang="en-IN" sz="1400" dirty="0">
                <a:effectLst/>
              </a:rPr>
              <a:t>Installed the necessary Linux environment and configured the tools required to work seamlessly with Sentaurus TCAD.</a:t>
            </a:r>
          </a:p>
          <a:p>
            <a:r>
              <a:rPr lang="en-IN" sz="1400" b="1" dirty="0">
                <a:effectLst/>
              </a:rPr>
              <a:t>Model Replication Task:</a:t>
            </a:r>
            <a:r>
              <a:rPr lang="en-IN" sz="1400" dirty="0">
                <a:effectLst/>
              </a:rPr>
              <a:t> Assigned the task of replicating a draft model presented in the IRJET research paper to align the project with published research and establish a baseline for further development.</a:t>
            </a:r>
          </a:p>
          <a:p>
            <a:r>
              <a:rPr lang="en-IN" sz="1400" b="1" dirty="0">
                <a:effectLst/>
              </a:rPr>
              <a:t>Practical Implementation: </a:t>
            </a:r>
            <a:r>
              <a:rPr lang="en-IN" sz="1400" dirty="0">
                <a:effectLst/>
              </a:rPr>
              <a:t>Applied the theoretical knowledge and newly acquired software skills to successfully replicate the assigned model. This phase marked my transition from learning to practical implementation and paved the way for subsequent advancements.</a:t>
            </a:r>
          </a:p>
          <a:p>
            <a:endParaRPr lang="en-US" sz="1400" dirty="0"/>
          </a:p>
        </p:txBody>
      </p:sp>
      <p:pic>
        <p:nvPicPr>
          <p:cNvPr id="5" name="Picture 4" descr="A diagram of a diagram of a gate&#10;&#10;Description automatically generated">
            <a:extLst>
              <a:ext uri="{FF2B5EF4-FFF2-40B4-BE49-F238E27FC236}">
                <a16:creationId xmlns:a16="http://schemas.microsoft.com/office/drawing/2014/main" id="{807FBC42-F567-E332-DE4F-49DD9DAA5C81}"/>
              </a:ext>
            </a:extLst>
          </p:cNvPr>
          <p:cNvPicPr>
            <a:picLocks noChangeAspect="1"/>
          </p:cNvPicPr>
          <p:nvPr/>
        </p:nvPicPr>
        <p:blipFill>
          <a:blip r:embed="rId3"/>
          <a:stretch>
            <a:fillRect/>
          </a:stretch>
        </p:blipFill>
        <p:spPr>
          <a:xfrm>
            <a:off x="5956916" y="550416"/>
            <a:ext cx="5503416" cy="3049810"/>
          </a:xfrm>
          <a:prstGeom prst="rect">
            <a:avLst/>
          </a:prstGeom>
        </p:spPr>
      </p:pic>
      <p:pic>
        <p:nvPicPr>
          <p:cNvPr id="7" name="Picture 6" descr="A computer screen shot of a cube&#10;&#10;Description automatically generated">
            <a:extLst>
              <a:ext uri="{FF2B5EF4-FFF2-40B4-BE49-F238E27FC236}">
                <a16:creationId xmlns:a16="http://schemas.microsoft.com/office/drawing/2014/main" id="{87D5912C-7637-DA73-E1A9-CD581CCE613F}"/>
              </a:ext>
            </a:extLst>
          </p:cNvPr>
          <p:cNvPicPr>
            <a:picLocks noChangeAspect="1"/>
          </p:cNvPicPr>
          <p:nvPr/>
        </p:nvPicPr>
        <p:blipFill>
          <a:blip r:embed="rId4"/>
          <a:stretch>
            <a:fillRect/>
          </a:stretch>
        </p:blipFill>
        <p:spPr>
          <a:xfrm>
            <a:off x="6341618" y="3904371"/>
            <a:ext cx="3451339" cy="2588504"/>
          </a:xfrm>
          <a:prstGeom prst="rect">
            <a:avLst/>
          </a:prstGeom>
        </p:spPr>
      </p:pic>
      <p:sp>
        <p:nvSpPr>
          <p:cNvPr id="8" name="TextBox 7">
            <a:extLst>
              <a:ext uri="{FF2B5EF4-FFF2-40B4-BE49-F238E27FC236}">
                <a16:creationId xmlns:a16="http://schemas.microsoft.com/office/drawing/2014/main" id="{F91E0772-ECD0-71F2-14EA-4087F43CBBA2}"/>
              </a:ext>
            </a:extLst>
          </p:cNvPr>
          <p:cNvSpPr txBox="1"/>
          <p:nvPr/>
        </p:nvSpPr>
        <p:spPr>
          <a:xfrm>
            <a:off x="6341618" y="3429000"/>
            <a:ext cx="3113100" cy="200055"/>
          </a:xfrm>
          <a:prstGeom prst="rect">
            <a:avLst/>
          </a:prstGeom>
          <a:noFill/>
        </p:spPr>
        <p:txBody>
          <a:bodyPr wrap="square" rtlCol="0">
            <a:spAutoFit/>
          </a:bodyPr>
          <a:lstStyle/>
          <a:p>
            <a:r>
              <a:rPr lang="en-US" sz="700" dirty="0"/>
              <a:t>https://www.irjet.net/archives/V10/i8/IRJET-V10I826.pdf</a:t>
            </a:r>
          </a:p>
        </p:txBody>
      </p:sp>
    </p:spTree>
    <p:extLst>
      <p:ext uri="{BB962C8B-B14F-4D97-AF65-F5344CB8AC3E}">
        <p14:creationId xmlns:p14="http://schemas.microsoft.com/office/powerpoint/2010/main" val="3889604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6E582-0766-D2D2-B537-4925D85636A7}"/>
              </a:ext>
            </a:extLst>
          </p:cNvPr>
          <p:cNvSpPr>
            <a:spLocks noGrp="1"/>
          </p:cNvSpPr>
          <p:nvPr>
            <p:ph type="title"/>
          </p:nvPr>
        </p:nvSpPr>
        <p:spPr/>
        <p:txBody>
          <a:bodyPr/>
          <a:lstStyle/>
          <a:p>
            <a:r>
              <a:rPr lang="en-US" u="sng" dirty="0"/>
              <a:t>Final Model Fabrication on TCAD</a:t>
            </a:r>
          </a:p>
        </p:txBody>
      </p:sp>
      <p:sp>
        <p:nvSpPr>
          <p:cNvPr id="3" name="Content Placeholder 2">
            <a:extLst>
              <a:ext uri="{FF2B5EF4-FFF2-40B4-BE49-F238E27FC236}">
                <a16:creationId xmlns:a16="http://schemas.microsoft.com/office/drawing/2014/main" id="{E3990FBB-40CC-00AF-B97F-6C55E1E27CC0}"/>
              </a:ext>
            </a:extLst>
          </p:cNvPr>
          <p:cNvSpPr>
            <a:spLocks noGrp="1"/>
          </p:cNvSpPr>
          <p:nvPr>
            <p:ph idx="1"/>
          </p:nvPr>
        </p:nvSpPr>
        <p:spPr>
          <a:xfrm>
            <a:off x="5468645" y="1690688"/>
            <a:ext cx="6098219" cy="4351338"/>
          </a:xfrm>
        </p:spPr>
        <p:txBody>
          <a:bodyPr>
            <a:noAutofit/>
          </a:bodyPr>
          <a:lstStyle/>
          <a:p>
            <a:pPr marL="0" indent="0">
              <a:buNone/>
            </a:pPr>
            <a:r>
              <a:rPr lang="en-IN" sz="1100" dirty="0"/>
              <a:t>This study develops a graphene-based field-effect transistor (G-FET) biosensor to measure DNA hybridization kinetics, binding affinities, and single-base mismatches in real time. The sensor offers high sensitivity (detection limit of 10 </a:t>
            </a:r>
            <a:r>
              <a:rPr lang="en-IN" sz="1100" dirty="0" err="1"/>
              <a:t>pM</a:t>
            </a:r>
            <a:r>
              <a:rPr lang="en-IN" sz="1100" dirty="0"/>
              <a:t>) and reproducibility, surpassing optical sensors and previous nanowire FETs.</a:t>
            </a:r>
          </a:p>
          <a:p>
            <a:pPr marL="0" indent="0">
              <a:buNone/>
            </a:pPr>
            <a:r>
              <a:rPr lang="en-IN" sz="1100" b="1" dirty="0"/>
              <a:t>Device and Fabrication Details:</a:t>
            </a:r>
          </a:p>
          <a:p>
            <a:r>
              <a:rPr lang="en-IN" sz="1100" dirty="0"/>
              <a:t>The sensor consists of six graphene single-crystal domains fabricated into parallel G-FET channels. Each channel is 45 µm long and 90 µm wide, with graphene channel spacings of 400 µm. A microfluidic channel integrated with the device allows controlled reagent delivery.</a:t>
            </a:r>
          </a:p>
          <a:p>
            <a:pPr marL="0" indent="0">
              <a:buNone/>
            </a:pPr>
            <a:r>
              <a:rPr lang="en-IN" sz="1100" b="1" dirty="0"/>
              <a:t>Performance Metrics:</a:t>
            </a:r>
            <a:endParaRPr lang="en-IN" sz="1100" dirty="0"/>
          </a:p>
          <a:p>
            <a:pPr>
              <a:buFont typeface="Arial" panose="020B0604020202020204" pitchFamily="34" charset="0"/>
              <a:buChar char="•"/>
            </a:pPr>
            <a:r>
              <a:rPr lang="en-IN" sz="1100" b="1" dirty="0"/>
              <a:t>Sensitivity:</a:t>
            </a:r>
            <a:r>
              <a:rPr lang="en-IN" sz="1100" dirty="0"/>
              <a:t> Detects DNA concentrations as low as 10 </a:t>
            </a:r>
            <a:r>
              <a:rPr lang="en-IN" sz="1100" dirty="0" err="1"/>
              <a:t>pM</a:t>
            </a:r>
            <a:r>
              <a:rPr lang="en-IN" sz="1100" dirty="0"/>
              <a:t>.</a:t>
            </a:r>
          </a:p>
          <a:p>
            <a:pPr>
              <a:buFont typeface="Arial" panose="020B0604020202020204" pitchFamily="34" charset="0"/>
              <a:buChar char="•"/>
            </a:pPr>
            <a:r>
              <a:rPr lang="en-IN" sz="1100" b="1" dirty="0"/>
              <a:t>Voltage Characteristics: </a:t>
            </a:r>
            <a:r>
              <a:rPr lang="en-IN" sz="1100" dirty="0"/>
              <a:t>Shows a significant charge-neutrality voltage shift (e.g., ~0.22V with DNA probe attachment and ~0.203V with target DNA hybridization).</a:t>
            </a:r>
          </a:p>
          <a:p>
            <a:pPr marL="0" indent="0">
              <a:buNone/>
            </a:pPr>
            <a:r>
              <a:rPr lang="en-IN" sz="1100" b="1" dirty="0"/>
              <a:t>Comparison with Existing Technologies:</a:t>
            </a:r>
            <a:endParaRPr lang="en-IN" sz="1100" dirty="0"/>
          </a:p>
          <a:p>
            <a:pPr>
              <a:buFont typeface="Arial" panose="020B0604020202020204" pitchFamily="34" charset="0"/>
              <a:buChar char="•"/>
            </a:pPr>
            <a:r>
              <a:rPr lang="en-IN" sz="1100" dirty="0"/>
              <a:t>The G-FET achieves a 10 </a:t>
            </a:r>
            <a:r>
              <a:rPr lang="en-IN" sz="1100" dirty="0" err="1"/>
              <a:t>pM</a:t>
            </a:r>
            <a:r>
              <a:rPr lang="en-IN" sz="1100" dirty="0"/>
              <a:t> detection limit, which is 3 orders of magnitude lower than the 10 </a:t>
            </a:r>
            <a:r>
              <a:rPr lang="en-IN" sz="1100" dirty="0" err="1"/>
              <a:t>nM</a:t>
            </a:r>
            <a:r>
              <a:rPr lang="en-IN" sz="1100" dirty="0"/>
              <a:t> detection limit of standard optical methods. The sensor can reliably regenerate for over 50 cycles without significant performance degradation, demonstrating high durability.</a:t>
            </a:r>
          </a:p>
          <a:p>
            <a:pPr marL="0" indent="0">
              <a:buNone/>
            </a:pPr>
            <a:r>
              <a:rPr lang="en-IN" sz="1100" dirty="0"/>
              <a:t>The G-FET leverages the intrinsic properties of graphene, such as ultra-high carrier mobility and surface sensitivity. Unlike nanowire-based sensors, it eliminates issues like high device variability and fabrication complexity. The integration of chemical vapor deposition (CVD)-grown graphene and precise fabrication techniques makes the device scalable, cost-effective, and suitable for high-throughput applications.</a:t>
            </a:r>
          </a:p>
          <a:p>
            <a:endParaRPr lang="en-US" sz="1100" dirty="0"/>
          </a:p>
        </p:txBody>
      </p:sp>
      <p:pic>
        <p:nvPicPr>
          <p:cNvPr id="5" name="Picture 4" descr="Diagram of a graphene electrode&#10;&#10;Description automatically generated">
            <a:extLst>
              <a:ext uri="{FF2B5EF4-FFF2-40B4-BE49-F238E27FC236}">
                <a16:creationId xmlns:a16="http://schemas.microsoft.com/office/drawing/2014/main" id="{20AE380B-D588-BDBD-E6F5-CE7B65FEC442}"/>
              </a:ext>
            </a:extLst>
          </p:cNvPr>
          <p:cNvPicPr>
            <a:picLocks noChangeAspect="1"/>
          </p:cNvPicPr>
          <p:nvPr/>
        </p:nvPicPr>
        <p:blipFill>
          <a:blip r:embed="rId2"/>
          <a:stretch>
            <a:fillRect/>
          </a:stretch>
        </p:blipFill>
        <p:spPr>
          <a:xfrm>
            <a:off x="1056443" y="1307337"/>
            <a:ext cx="4127808" cy="2139183"/>
          </a:xfrm>
          <a:prstGeom prst="rect">
            <a:avLst/>
          </a:prstGeom>
        </p:spPr>
      </p:pic>
      <p:pic>
        <p:nvPicPr>
          <p:cNvPr id="7" name="Picture 6" descr="A computer screen shot of a computer program&#10;&#10;Description automatically generated">
            <a:extLst>
              <a:ext uri="{FF2B5EF4-FFF2-40B4-BE49-F238E27FC236}">
                <a16:creationId xmlns:a16="http://schemas.microsoft.com/office/drawing/2014/main" id="{DBC4466C-E521-67C3-1F0E-FBF1F34CF7B4}"/>
              </a:ext>
            </a:extLst>
          </p:cNvPr>
          <p:cNvPicPr>
            <a:picLocks noChangeAspect="1"/>
          </p:cNvPicPr>
          <p:nvPr/>
        </p:nvPicPr>
        <p:blipFill>
          <a:blip r:embed="rId3"/>
          <a:stretch>
            <a:fillRect/>
          </a:stretch>
        </p:blipFill>
        <p:spPr>
          <a:xfrm>
            <a:off x="1171049" y="3771567"/>
            <a:ext cx="4143330" cy="2589581"/>
          </a:xfrm>
          <a:prstGeom prst="rect">
            <a:avLst/>
          </a:prstGeom>
        </p:spPr>
      </p:pic>
      <p:sp>
        <p:nvSpPr>
          <p:cNvPr id="8" name="TextBox 7">
            <a:extLst>
              <a:ext uri="{FF2B5EF4-FFF2-40B4-BE49-F238E27FC236}">
                <a16:creationId xmlns:a16="http://schemas.microsoft.com/office/drawing/2014/main" id="{C1A7CABF-FAC5-6532-AAEE-7E485D4B0A4B}"/>
              </a:ext>
            </a:extLst>
          </p:cNvPr>
          <p:cNvSpPr txBox="1"/>
          <p:nvPr/>
        </p:nvSpPr>
        <p:spPr>
          <a:xfrm>
            <a:off x="1580226" y="3300414"/>
            <a:ext cx="3666477" cy="461665"/>
          </a:xfrm>
          <a:prstGeom prst="rect">
            <a:avLst/>
          </a:prstGeom>
          <a:noFill/>
        </p:spPr>
        <p:txBody>
          <a:bodyPr wrap="square" rtlCol="0">
            <a:spAutoFit/>
          </a:bodyPr>
          <a:lstStyle/>
          <a:p>
            <a:r>
              <a:rPr lang="en-IN" sz="800" i="1" dirty="0">
                <a:effectLst/>
                <a:latin typeface="Helvetica" pitchFamily="2" charset="0"/>
              </a:rPr>
              <a:t>NATURE COMMUNICATIONS | 8:14902 | DOI: 10.1038/ncomms14902 |</a:t>
            </a:r>
            <a:r>
              <a:rPr lang="en-IN" sz="800" i="1" dirty="0" err="1">
                <a:effectLst/>
                <a:latin typeface="Helvetica" pitchFamily="2" charset="0"/>
              </a:rPr>
              <a:t>www.nature.com</a:t>
            </a:r>
            <a:r>
              <a:rPr lang="en-IN" sz="800" i="1" dirty="0">
                <a:effectLst/>
                <a:latin typeface="Helvetica" pitchFamily="2" charset="0"/>
              </a:rPr>
              <a:t>/</a:t>
            </a:r>
            <a:r>
              <a:rPr lang="en-IN" sz="800" i="1" dirty="0" err="1">
                <a:effectLst/>
                <a:latin typeface="Helvetica" pitchFamily="2" charset="0"/>
              </a:rPr>
              <a:t>naturecommunications</a:t>
            </a:r>
            <a:endParaRPr lang="en-IN" sz="800" dirty="0">
              <a:effectLst/>
              <a:latin typeface="Helvetica" pitchFamily="2" charset="0"/>
            </a:endParaRPr>
          </a:p>
          <a:p>
            <a:endParaRPr lang="en-US" sz="800" dirty="0"/>
          </a:p>
        </p:txBody>
      </p:sp>
    </p:spTree>
    <p:extLst>
      <p:ext uri="{BB962C8B-B14F-4D97-AF65-F5344CB8AC3E}">
        <p14:creationId xmlns:p14="http://schemas.microsoft.com/office/powerpoint/2010/main" val="276498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11359-0A29-9213-94CA-A14D02F6CA2C}"/>
              </a:ext>
            </a:extLst>
          </p:cNvPr>
          <p:cNvSpPr>
            <a:spLocks noGrp="1"/>
          </p:cNvSpPr>
          <p:nvPr>
            <p:ph type="title"/>
          </p:nvPr>
        </p:nvSpPr>
        <p:spPr/>
        <p:txBody>
          <a:bodyPr/>
          <a:lstStyle/>
          <a:p>
            <a:r>
              <a:rPr lang="en-US" u="sng" dirty="0"/>
              <a:t>Final Model Fabrication on TCAD</a:t>
            </a:r>
          </a:p>
        </p:txBody>
      </p:sp>
      <p:pic>
        <p:nvPicPr>
          <p:cNvPr id="6" name="Picture 5" descr="A screenshot of a computer graphics tool&#10;&#10;Description automatically generated">
            <a:extLst>
              <a:ext uri="{FF2B5EF4-FFF2-40B4-BE49-F238E27FC236}">
                <a16:creationId xmlns:a16="http://schemas.microsoft.com/office/drawing/2014/main" id="{17EBE6BF-E467-4EF7-EA5D-2982C653CD28}"/>
              </a:ext>
            </a:extLst>
          </p:cNvPr>
          <p:cNvPicPr>
            <a:picLocks noChangeAspect="1"/>
          </p:cNvPicPr>
          <p:nvPr/>
        </p:nvPicPr>
        <p:blipFill>
          <a:blip r:embed="rId2"/>
          <a:stretch>
            <a:fillRect/>
          </a:stretch>
        </p:blipFill>
        <p:spPr>
          <a:xfrm rot="5400000">
            <a:off x="1001744" y="4702482"/>
            <a:ext cx="1861079" cy="1893727"/>
          </a:xfrm>
          <a:prstGeom prst="rect">
            <a:avLst/>
          </a:prstGeom>
        </p:spPr>
      </p:pic>
      <p:pic>
        <p:nvPicPr>
          <p:cNvPr id="8" name="Picture 7" descr="A diagram of a diagram and diagram of a diagram&#10;&#10;Description automatically generated">
            <a:extLst>
              <a:ext uri="{FF2B5EF4-FFF2-40B4-BE49-F238E27FC236}">
                <a16:creationId xmlns:a16="http://schemas.microsoft.com/office/drawing/2014/main" id="{F0C256A9-00A7-88B5-1CF0-46EB1581ECCD}"/>
              </a:ext>
            </a:extLst>
          </p:cNvPr>
          <p:cNvPicPr>
            <a:picLocks noChangeAspect="1"/>
          </p:cNvPicPr>
          <p:nvPr/>
        </p:nvPicPr>
        <p:blipFill>
          <a:blip r:embed="rId3"/>
          <a:stretch>
            <a:fillRect/>
          </a:stretch>
        </p:blipFill>
        <p:spPr>
          <a:xfrm>
            <a:off x="6282679" y="4335257"/>
            <a:ext cx="5909321" cy="2106193"/>
          </a:xfrm>
          <a:prstGeom prst="rect">
            <a:avLst/>
          </a:prstGeom>
        </p:spPr>
      </p:pic>
      <p:sp>
        <p:nvSpPr>
          <p:cNvPr id="9" name="TextBox 8">
            <a:extLst>
              <a:ext uri="{FF2B5EF4-FFF2-40B4-BE49-F238E27FC236}">
                <a16:creationId xmlns:a16="http://schemas.microsoft.com/office/drawing/2014/main" id="{D4BA7D62-3A7B-22E5-AC95-8CCBEC82E5E4}"/>
              </a:ext>
            </a:extLst>
          </p:cNvPr>
          <p:cNvSpPr txBox="1"/>
          <p:nvPr/>
        </p:nvSpPr>
        <p:spPr>
          <a:xfrm>
            <a:off x="6282679" y="6441450"/>
            <a:ext cx="3089429" cy="369332"/>
          </a:xfrm>
          <a:prstGeom prst="rect">
            <a:avLst/>
          </a:prstGeom>
          <a:noFill/>
        </p:spPr>
        <p:txBody>
          <a:bodyPr wrap="square" rtlCol="0">
            <a:spAutoFit/>
          </a:bodyPr>
          <a:lstStyle/>
          <a:p>
            <a:r>
              <a:rPr lang="en-US" dirty="0"/>
              <a:t>Expected Graph</a:t>
            </a:r>
          </a:p>
        </p:txBody>
      </p:sp>
      <p:sp>
        <p:nvSpPr>
          <p:cNvPr id="10" name="TextBox 9">
            <a:extLst>
              <a:ext uri="{FF2B5EF4-FFF2-40B4-BE49-F238E27FC236}">
                <a16:creationId xmlns:a16="http://schemas.microsoft.com/office/drawing/2014/main" id="{479C3746-C51B-C78E-6446-EA8E0A239927}"/>
              </a:ext>
            </a:extLst>
          </p:cNvPr>
          <p:cNvSpPr txBox="1"/>
          <p:nvPr/>
        </p:nvSpPr>
        <p:spPr>
          <a:xfrm>
            <a:off x="6096000" y="3796881"/>
            <a:ext cx="2954660" cy="369332"/>
          </a:xfrm>
          <a:prstGeom prst="rect">
            <a:avLst/>
          </a:prstGeom>
          <a:noFill/>
        </p:spPr>
        <p:txBody>
          <a:bodyPr wrap="square" rtlCol="0">
            <a:spAutoFit/>
          </a:bodyPr>
          <a:lstStyle/>
          <a:p>
            <a:r>
              <a:rPr lang="en-US" dirty="0"/>
              <a:t>Actual Graph</a:t>
            </a:r>
          </a:p>
        </p:txBody>
      </p:sp>
      <p:pic>
        <p:nvPicPr>
          <p:cNvPr id="5" name="Picture 4" descr="A computer screen shot of a computer program&#10;&#10;Description automatically generated">
            <a:extLst>
              <a:ext uri="{FF2B5EF4-FFF2-40B4-BE49-F238E27FC236}">
                <a16:creationId xmlns:a16="http://schemas.microsoft.com/office/drawing/2014/main" id="{C56A4D45-E8D0-61AB-E649-BD4AC9190876}"/>
              </a:ext>
            </a:extLst>
          </p:cNvPr>
          <p:cNvPicPr>
            <a:picLocks noChangeAspect="1"/>
          </p:cNvPicPr>
          <p:nvPr/>
        </p:nvPicPr>
        <p:blipFill>
          <a:blip r:embed="rId4"/>
          <a:stretch>
            <a:fillRect/>
          </a:stretch>
        </p:blipFill>
        <p:spPr>
          <a:xfrm>
            <a:off x="985420" y="1530228"/>
            <a:ext cx="4944208" cy="3090130"/>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13361020-7495-ADBB-C0FD-EA754613C80A}"/>
              </a:ext>
            </a:extLst>
          </p:cNvPr>
          <p:cNvPicPr>
            <a:picLocks noChangeAspect="1"/>
          </p:cNvPicPr>
          <p:nvPr/>
        </p:nvPicPr>
        <p:blipFill>
          <a:blip r:embed="rId5"/>
          <a:stretch>
            <a:fillRect/>
          </a:stretch>
        </p:blipFill>
        <p:spPr>
          <a:xfrm>
            <a:off x="2951903" y="4718806"/>
            <a:ext cx="2977725" cy="1861078"/>
          </a:xfrm>
          <a:prstGeom prst="rect">
            <a:avLst/>
          </a:prstGeom>
        </p:spPr>
      </p:pic>
      <p:pic>
        <p:nvPicPr>
          <p:cNvPr id="13" name="Picture 12" descr="A screen shot of a computer&#10;&#10;Description automatically generated">
            <a:extLst>
              <a:ext uri="{FF2B5EF4-FFF2-40B4-BE49-F238E27FC236}">
                <a16:creationId xmlns:a16="http://schemas.microsoft.com/office/drawing/2014/main" id="{245DB760-49F9-9D51-A91E-DCFC9083DC7A}"/>
              </a:ext>
            </a:extLst>
          </p:cNvPr>
          <p:cNvPicPr>
            <a:picLocks noChangeAspect="1"/>
          </p:cNvPicPr>
          <p:nvPr/>
        </p:nvPicPr>
        <p:blipFill>
          <a:blip r:embed="rId6"/>
          <a:stretch>
            <a:fillRect/>
          </a:stretch>
        </p:blipFill>
        <p:spPr>
          <a:xfrm>
            <a:off x="6282679" y="1530227"/>
            <a:ext cx="5237493" cy="2266653"/>
          </a:xfrm>
          <a:prstGeom prst="rect">
            <a:avLst/>
          </a:prstGeom>
        </p:spPr>
      </p:pic>
    </p:spTree>
    <p:extLst>
      <p:ext uri="{BB962C8B-B14F-4D97-AF65-F5344CB8AC3E}">
        <p14:creationId xmlns:p14="http://schemas.microsoft.com/office/powerpoint/2010/main" val="439348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DE7F9-0BCB-FF44-C61E-1B0518EDADFD}"/>
              </a:ext>
            </a:extLst>
          </p:cNvPr>
          <p:cNvSpPr>
            <a:spLocks noGrp="1"/>
          </p:cNvSpPr>
          <p:nvPr>
            <p:ph type="title"/>
          </p:nvPr>
        </p:nvSpPr>
        <p:spPr/>
        <p:txBody>
          <a:bodyPr/>
          <a:lstStyle/>
          <a:p>
            <a:r>
              <a:rPr lang="en-US" u="sng" dirty="0"/>
              <a:t>Graph Analysis</a:t>
            </a:r>
          </a:p>
        </p:txBody>
      </p:sp>
      <p:sp>
        <p:nvSpPr>
          <p:cNvPr id="3" name="Content Placeholder 2">
            <a:extLst>
              <a:ext uri="{FF2B5EF4-FFF2-40B4-BE49-F238E27FC236}">
                <a16:creationId xmlns:a16="http://schemas.microsoft.com/office/drawing/2014/main" id="{4F2BD63C-2329-54AB-D969-D87A6985E3B7}"/>
              </a:ext>
            </a:extLst>
          </p:cNvPr>
          <p:cNvSpPr>
            <a:spLocks noGrp="1"/>
          </p:cNvSpPr>
          <p:nvPr>
            <p:ph idx="1"/>
          </p:nvPr>
        </p:nvSpPr>
        <p:spPr>
          <a:xfrm>
            <a:off x="838200" y="1690688"/>
            <a:ext cx="10515600" cy="4351338"/>
          </a:xfrm>
        </p:spPr>
        <p:txBody>
          <a:bodyPr>
            <a:normAutofit fontScale="25000" lnSpcReduction="20000"/>
          </a:bodyPr>
          <a:lstStyle/>
          <a:p>
            <a:r>
              <a:rPr lang="en-IN" sz="4800" b="1" dirty="0">
                <a:effectLst/>
                <a:latin typeface="Calibri" panose="020F0502020204030204" pitchFamily="34" charset="0"/>
                <a:ea typeface="DengXian Light" panose="02010600030101010101" pitchFamily="2" charset="-122"/>
              </a:rPr>
              <a:t>Possible Causes</a:t>
            </a:r>
            <a:r>
              <a:rPr lang="en-IN" sz="4800" b="1" dirty="0">
                <a:effectLst/>
                <a:latin typeface="Calibri" panose="020F0502020204030204" pitchFamily="34" charset="0"/>
                <a:ea typeface="Times New Roman" panose="02020603050405020304" pitchFamily="18" charset="0"/>
              </a:rPr>
              <a:t>:</a:t>
            </a:r>
            <a:endParaRPr lang="en-IN" sz="48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Mismatch in Graphene Parameters</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Graphene has unique properties like zero bandgap, high carrier mobility, and a linear energy dispersion relationship. If these are not properly modelled, the simulation will not capture its behaviour.</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Parameters such as mobility, work function, and Fermi level should be carefully selected from experimental data. </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Incorrect Inclusion of Defects</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Defects like grain boundaries or impurities can reduce the current dramatically. If these are modelled improperly, the simulation may underestimate current levels.</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Improper Layer Thickness or Geometry</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Graphene is atomically thin, and any deviation from this assumption in the simulation (e.g., a thicker layer or 3D assumptions) can result in incorrect behaviour.</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Misalignment in the source, drain, or gate contacts could also change current flow.</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Doping Profile</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Doping levels and gradients play a significant role in determining the device’s response to gate voltage. Improper doping (or lack of it) can lead to insufficient carriers for conduction, resulting in picoampere-level currents. </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Contact Properties</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The Schottky barrier height, contact resistance, and work function differences between the metal and graphene need to be accurately modelled. Improper values can suppress current significantly.</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Gate Voltage Application</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Ensure the gate terminal voltage sweep matches the expected conditions. If the gate-source potential is not properly applied, the device may not operate in the desired region.</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Physical Models</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If the simulation does not include graphene-specific effects (e.g., ballistic transport, quantum tunnelling), the output will differ. For low-dimensional materials like graphene, traditional drift-diffusion models may be insufficient.</a:t>
            </a:r>
            <a:endParaRPr lang="en-IN" sz="4400" dirty="0">
              <a:effectLst/>
              <a:latin typeface="Times New Roman" panose="02020603050405020304" pitchFamily="18" charset="0"/>
              <a:ea typeface="Times New Roman" panose="02020603050405020304" pitchFamily="18" charset="0"/>
            </a:endParaRPr>
          </a:p>
          <a:p>
            <a:endParaRPr lang="en-US" b="1" dirty="0"/>
          </a:p>
        </p:txBody>
      </p:sp>
    </p:spTree>
    <p:extLst>
      <p:ext uri="{BB962C8B-B14F-4D97-AF65-F5344CB8AC3E}">
        <p14:creationId xmlns:p14="http://schemas.microsoft.com/office/powerpoint/2010/main" val="3355594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C566F-B0D3-3824-3AD6-3C065AC6B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49323-969C-6F68-9AFA-3A11DDEB881A}"/>
              </a:ext>
            </a:extLst>
          </p:cNvPr>
          <p:cNvSpPr>
            <a:spLocks noGrp="1"/>
          </p:cNvSpPr>
          <p:nvPr>
            <p:ph type="title"/>
          </p:nvPr>
        </p:nvSpPr>
        <p:spPr/>
        <p:txBody>
          <a:bodyPr/>
          <a:lstStyle/>
          <a:p>
            <a:r>
              <a:rPr lang="en-US" u="sng" dirty="0"/>
              <a:t>Graph Analysis</a:t>
            </a:r>
          </a:p>
        </p:txBody>
      </p:sp>
      <p:sp>
        <p:nvSpPr>
          <p:cNvPr id="3" name="Content Placeholder 2">
            <a:extLst>
              <a:ext uri="{FF2B5EF4-FFF2-40B4-BE49-F238E27FC236}">
                <a16:creationId xmlns:a16="http://schemas.microsoft.com/office/drawing/2014/main" id="{1E832061-216F-E7CB-C938-C18ED0E9BA44}"/>
              </a:ext>
            </a:extLst>
          </p:cNvPr>
          <p:cNvSpPr>
            <a:spLocks noGrp="1"/>
          </p:cNvSpPr>
          <p:nvPr>
            <p:ph idx="1"/>
          </p:nvPr>
        </p:nvSpPr>
        <p:spPr>
          <a:xfrm>
            <a:off x="838200" y="1588233"/>
            <a:ext cx="10515600" cy="4351338"/>
          </a:xfrm>
        </p:spPr>
        <p:txBody>
          <a:bodyPr>
            <a:normAutofit fontScale="25000" lnSpcReduction="20000"/>
          </a:bodyPr>
          <a:lstStyle/>
          <a:p>
            <a:pPr marL="0" indent="0">
              <a:buNone/>
            </a:pPr>
            <a:r>
              <a:rPr lang="en-IN" sz="4800" b="1" dirty="0">
                <a:effectLst/>
                <a:latin typeface="Calibri" panose="020F0502020204030204" pitchFamily="34" charset="0"/>
                <a:ea typeface="DengXian Light" panose="02010600030101010101" pitchFamily="2" charset="-122"/>
              </a:rPr>
              <a:t>Steps to Align Results</a:t>
            </a:r>
            <a:r>
              <a:rPr lang="en-IN" sz="4800" b="1" dirty="0">
                <a:effectLst/>
                <a:latin typeface="Calibri" panose="020F0502020204030204" pitchFamily="34" charset="0"/>
                <a:ea typeface="Times New Roman" panose="02020603050405020304" pitchFamily="18" charset="0"/>
              </a:rPr>
              <a:t>:</a:t>
            </a:r>
            <a:endParaRPr lang="en-IN" sz="48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Verify</a:t>
            </a:r>
            <a:r>
              <a:rPr lang="en-IN" sz="4400" dirty="0">
                <a:effectLst/>
                <a:latin typeface="Calibri" panose="020F0502020204030204" pitchFamily="34" charset="0"/>
                <a:ea typeface="Times New Roman" panose="02020603050405020304" pitchFamily="18" charset="0"/>
              </a:rPr>
              <a:t>ing</a:t>
            </a:r>
            <a:r>
              <a:rPr lang="en-IN" sz="4400" dirty="0">
                <a:effectLst/>
                <a:latin typeface="Calibri" panose="020F0502020204030204" pitchFamily="34" charset="0"/>
                <a:ea typeface="DengXian Light" panose="02010600030101010101" pitchFamily="2" charset="-122"/>
              </a:rPr>
              <a:t> the Simulation Setup</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Cross-check the physical models enabled in Sentaurus.</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Enable graphene-specific models, such as </a:t>
            </a:r>
            <a:r>
              <a:rPr lang="en-IN" sz="4400" dirty="0">
                <a:effectLst/>
                <a:latin typeface="Calibri" panose="020F0502020204030204" pitchFamily="34" charset="0"/>
                <a:ea typeface="DengXian Light" panose="02010600030101010101" pitchFamily="2" charset="-122"/>
              </a:rPr>
              <a:t>ballistic transport</a:t>
            </a:r>
            <a:r>
              <a:rPr lang="en-IN" sz="4400" dirty="0">
                <a:effectLst/>
                <a:latin typeface="Calibri" panose="020F0502020204030204" pitchFamily="34" charset="0"/>
                <a:ea typeface="Times New Roman" panose="02020603050405020304" pitchFamily="18" charset="0"/>
              </a:rPr>
              <a:t>, </a:t>
            </a:r>
            <a:r>
              <a:rPr lang="en-IN" sz="4400" dirty="0">
                <a:effectLst/>
                <a:latin typeface="Calibri" panose="020F0502020204030204" pitchFamily="34" charset="0"/>
                <a:ea typeface="DengXian Light" panose="02010600030101010101" pitchFamily="2" charset="-122"/>
              </a:rPr>
              <a:t>quantum corrections</a:t>
            </a:r>
            <a:r>
              <a:rPr lang="en-IN" sz="4400" dirty="0">
                <a:effectLst/>
                <a:latin typeface="Calibri" panose="020F0502020204030204" pitchFamily="34" charset="0"/>
                <a:ea typeface="Times New Roman" panose="02020603050405020304" pitchFamily="18" charset="0"/>
              </a:rPr>
              <a:t>, or </a:t>
            </a:r>
            <a:r>
              <a:rPr lang="en-IN" sz="4400" dirty="0">
                <a:effectLst/>
                <a:latin typeface="Calibri" panose="020F0502020204030204" pitchFamily="34" charset="0"/>
                <a:ea typeface="DengXian Light" panose="02010600030101010101" pitchFamily="2" charset="-122"/>
              </a:rPr>
              <a:t>non-parabolic energy bands</a:t>
            </a:r>
            <a:r>
              <a:rPr lang="en-IN" sz="4400" dirty="0">
                <a:effectLst/>
                <a:latin typeface="Calibri" panose="020F0502020204030204" pitchFamily="34" charset="0"/>
                <a:ea typeface="Times New Roman" panose="02020603050405020304" pitchFamily="18" charset="0"/>
              </a:rPr>
              <a:t>, if available.</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Use the drift-diffusion model cautiously. For graphene devices, advanced models like Monte Carlo simulations or quantum transport may be necessary.</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Confirm that the voltage sweep (gate voltage) matches the range and resolution of the expected graph.</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Graphene Mobility</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Use literature values for graphene’s intrinsic mobility (up to </a:t>
            </a:r>
            <a:r>
              <a:rPr lang="en-IN" sz="4400">
                <a:effectLst/>
                <a:latin typeface="Calibri" panose="020F0502020204030204" pitchFamily="34" charset="0"/>
                <a:ea typeface="Times New Roman" panose="02020603050405020304" pitchFamily="18" charset="0"/>
              </a:rPr>
              <a:t>105 cm2) </a:t>
            </a:r>
            <a:r>
              <a:rPr lang="en-IN" sz="4400" dirty="0">
                <a:effectLst/>
                <a:latin typeface="Calibri" panose="020F0502020204030204" pitchFamily="34" charset="0"/>
                <a:ea typeface="Times New Roman" panose="02020603050405020304" pitchFamily="18" charset="0"/>
              </a:rPr>
              <a:t>unless there are reasons to include defects or impurities.</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Work Function</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Ensure the work function of the gate material and graphene are consistent with experimental setups.</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Doping Concentrations</a:t>
            </a:r>
            <a:r>
              <a:rPr lang="en-IN" sz="4400" dirty="0">
                <a:effectLst/>
                <a:latin typeface="Calibri" panose="020F0502020204030204" pitchFamily="34" charset="0"/>
                <a:ea typeface="Times New Roman" panose="02020603050405020304" pitchFamily="18" charset="0"/>
              </a:rPr>
              <a: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Use lightly or undoped graphene for typical ambipolar behaviour. If doped, verify the doping concentration aligns with experimental conditions.</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Analyse Current Levels</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Compare the absolute current levels. A current level mismatch may suggest:</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Excessive resistance in the simulation setup.</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Improper material properties (e.g., mobility too low).</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Missing effects like tunnelling or contact injection. </a:t>
            </a:r>
            <a:endParaRPr lang="en-IN" sz="4400" dirty="0">
              <a:effectLst/>
              <a:latin typeface="Times New Roman" panose="02020603050405020304" pitchFamily="18" charset="0"/>
              <a:ea typeface="Times New Roman" panose="02020603050405020304" pitchFamily="18" charset="0"/>
            </a:endParaRPr>
          </a:p>
          <a:p>
            <a:r>
              <a:rPr lang="en-IN" sz="4400" dirty="0">
                <a:effectLst/>
                <a:latin typeface="Calibri" panose="020F0502020204030204" pitchFamily="34" charset="0"/>
                <a:ea typeface="DengXian Light" panose="02010600030101010101" pitchFamily="2" charset="-122"/>
              </a:rPr>
              <a:t>Adjust Voltage Sweep</a:t>
            </a:r>
            <a:endParaRPr lang="en-IN" sz="4400" dirty="0">
              <a:effectLst/>
              <a:latin typeface="Times New Roman" panose="02020603050405020304" pitchFamily="18" charset="0"/>
              <a:ea typeface="Times New Roman" panose="02020603050405020304" pitchFamily="18" charset="0"/>
            </a:endParaRPr>
          </a:p>
          <a:p>
            <a:pPr marL="457200"/>
            <a:r>
              <a:rPr lang="en-IN" sz="4400" dirty="0">
                <a:effectLst/>
                <a:latin typeface="Calibri" panose="020F0502020204030204" pitchFamily="34" charset="0"/>
                <a:ea typeface="Times New Roman" panose="02020603050405020304" pitchFamily="18" charset="0"/>
              </a:rPr>
              <a:t>Confirm that the voltage sweep is symmetric (e.g., from −1.0 V−1.0V to 1.5 V1.5V) to capture the ambipolar behaviour observed in the expected graph.</a:t>
            </a:r>
            <a:endParaRPr lang="en-IN" sz="4400" dirty="0">
              <a:effectLst/>
              <a:latin typeface="Times New Roman" panose="02020603050405020304" pitchFamily="18" charset="0"/>
              <a:ea typeface="Times New Roman" panose="02020603050405020304" pitchFamily="18" charset="0"/>
            </a:endParaRPr>
          </a:p>
          <a:p>
            <a:pPr marL="0" indent="0">
              <a:buNone/>
            </a:pPr>
            <a:endParaRPr lang="en-US" b="1" dirty="0"/>
          </a:p>
        </p:txBody>
      </p:sp>
    </p:spTree>
    <p:extLst>
      <p:ext uri="{BB962C8B-B14F-4D97-AF65-F5344CB8AC3E}">
        <p14:creationId xmlns:p14="http://schemas.microsoft.com/office/powerpoint/2010/main" val="2537993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B5379-6852-E43B-B803-681734AE60E5}"/>
              </a:ext>
            </a:extLst>
          </p:cNvPr>
          <p:cNvSpPr>
            <a:spLocks noGrp="1"/>
          </p:cNvSpPr>
          <p:nvPr>
            <p:ph type="title"/>
          </p:nvPr>
        </p:nvSpPr>
        <p:spPr/>
        <p:txBody>
          <a:bodyPr/>
          <a:lstStyle/>
          <a:p>
            <a:r>
              <a:rPr lang="en-US" u="sng" dirty="0"/>
              <a:t>Biomolecule Approach</a:t>
            </a:r>
          </a:p>
        </p:txBody>
      </p:sp>
      <p:sp>
        <p:nvSpPr>
          <p:cNvPr id="3" name="Text Placeholder 2">
            <a:extLst>
              <a:ext uri="{FF2B5EF4-FFF2-40B4-BE49-F238E27FC236}">
                <a16:creationId xmlns:a16="http://schemas.microsoft.com/office/drawing/2014/main" id="{E6A8D775-CE38-FCF8-591C-FA05646CC48C}"/>
              </a:ext>
            </a:extLst>
          </p:cNvPr>
          <p:cNvSpPr>
            <a:spLocks noGrp="1"/>
          </p:cNvSpPr>
          <p:nvPr>
            <p:ph type="body" idx="1"/>
          </p:nvPr>
        </p:nvSpPr>
        <p:spPr>
          <a:xfrm>
            <a:off x="836611" y="1522901"/>
            <a:ext cx="5157787" cy="823912"/>
          </a:xfrm>
        </p:spPr>
        <p:txBody>
          <a:bodyPr>
            <a:normAutofit lnSpcReduction="10000"/>
          </a:bodyPr>
          <a:lstStyle/>
          <a:p>
            <a:pPr algn="ctr"/>
            <a:r>
              <a:rPr lang="en-US" sz="2000" i="1" kern="0" dirty="0">
                <a:effectLst/>
                <a:latin typeface="Calibri" panose="020F0502020204030204" pitchFamily="34" charset="0"/>
                <a:ea typeface="Calibri" panose="020F0502020204030204" pitchFamily="34" charset="0"/>
              </a:rPr>
              <a:t>IgG Charge: Practical and Biological Implication</a:t>
            </a:r>
            <a:r>
              <a:rPr lang="en-IN" sz="2000" i="1" kern="0" dirty="0">
                <a:latin typeface="Calibri" panose="020F0502020204030204" pitchFamily="34" charset="0"/>
                <a:ea typeface="Calibri" panose="020F0502020204030204" pitchFamily="34" charset="0"/>
              </a:rPr>
              <a:t>s</a:t>
            </a:r>
            <a:endParaRPr lang="en-US" sz="2800" b="0" dirty="0"/>
          </a:p>
        </p:txBody>
      </p:sp>
      <p:sp>
        <p:nvSpPr>
          <p:cNvPr id="4" name="Content Placeholder 3">
            <a:extLst>
              <a:ext uri="{FF2B5EF4-FFF2-40B4-BE49-F238E27FC236}">
                <a16:creationId xmlns:a16="http://schemas.microsoft.com/office/drawing/2014/main" id="{423571DF-EFCB-7C78-1AD0-83DA2C4DC4F1}"/>
              </a:ext>
            </a:extLst>
          </p:cNvPr>
          <p:cNvSpPr>
            <a:spLocks noGrp="1"/>
          </p:cNvSpPr>
          <p:nvPr>
            <p:ph sz="half" idx="2"/>
          </p:nvPr>
        </p:nvSpPr>
        <p:spPr>
          <a:xfrm>
            <a:off x="836612" y="2570773"/>
            <a:ext cx="5157787" cy="3922102"/>
          </a:xfrm>
        </p:spPr>
        <p:txBody>
          <a:bodyPr>
            <a:normAutofit/>
          </a:bodyPr>
          <a:lstStyle/>
          <a:p>
            <a:r>
              <a:rPr lang="en-IN" sz="1800" dirty="0">
                <a:effectLst/>
                <a:latin typeface="Calibri" panose="020F0502020204030204" pitchFamily="34" charset="0"/>
                <a:ea typeface="Times New Roman" panose="02020603050405020304" pitchFamily="18" charset="0"/>
                <a:cs typeface="Times New Roman" panose="02020603050405020304" pitchFamily="18" charset="0"/>
              </a:rPr>
              <a:t>At physiological pH (pH = 7.4), the charge of most </a:t>
            </a:r>
            <a:r>
              <a:rPr lang="en-IN" sz="1800" dirty="0" err="1">
                <a:effectLst/>
                <a:latin typeface="Calibri" panose="020F0502020204030204" pitchFamily="34" charset="0"/>
                <a:ea typeface="Times New Roman" panose="02020603050405020304" pitchFamily="18" charset="0"/>
                <a:cs typeface="Times New Roman" panose="02020603050405020304" pitchFamily="18" charset="0"/>
              </a:rPr>
              <a:t>IgGs</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transitioned to weakly anionic states. For instance, IgG1 showed a ZDHHZDHH​ of </a:t>
            </a: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-5.6 ± 0.1</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while IgG4Pro exhibited a more negative charge of </a:t>
            </a: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-13 ± 0.3</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a:t>
            </a:r>
          </a:p>
          <a:p>
            <a:r>
              <a:rPr lang="en-IN" sz="1800" dirty="0">
                <a:latin typeface="Calibri" panose="020F0502020204030204" pitchFamily="34" charset="0"/>
                <a:ea typeface="Times New Roman" panose="02020603050405020304" pitchFamily="18" charset="0"/>
                <a:cs typeface="Times New Roman" panose="02020603050405020304" pitchFamily="18" charset="0"/>
              </a:rPr>
              <a:t>A</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n IgG4 molecule with ZDHH = −10.6ZDHH​= −10.6 to −13−13 corresponds to a charge of approximately −1.6×10−18 C−1.6×10−18C per molecule. When distributed across the sensor surface, this creates a measurable electrostatic potential, causing a shift in the GFET's Dirac point.</a:t>
            </a:r>
          </a:p>
          <a:p>
            <a:r>
              <a:rPr lang="en-IN" sz="1800" kern="0" dirty="0">
                <a:effectLst/>
                <a:latin typeface="Calibri" panose="020F0502020204030204" pitchFamily="34" charset="0"/>
                <a:ea typeface="Times New Roman" panose="02020603050405020304" pitchFamily="18" charset="0"/>
              </a:rPr>
              <a:t>Based on the paper's data, a single layer of IgG molecules could induce voltage shifts in the range of 10–50 mV</a:t>
            </a:r>
            <a:r>
              <a:rPr lang="en-IN" sz="1200" dirty="0">
                <a:effectLst/>
              </a:rPr>
              <a:t>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6D6B3C03-CB7B-5294-85C7-9619FC8CAA82}"/>
              </a:ext>
            </a:extLst>
          </p:cNvPr>
          <p:cNvSpPr>
            <a:spLocks noGrp="1"/>
          </p:cNvSpPr>
          <p:nvPr>
            <p:ph type="body" sz="quarter" idx="3"/>
          </p:nvPr>
        </p:nvSpPr>
        <p:spPr/>
        <p:txBody>
          <a:bodyPr>
            <a:normAutofit lnSpcReduction="10000"/>
          </a:bodyPr>
          <a:lstStyle/>
          <a:p>
            <a:pPr algn="ctr"/>
            <a:r>
              <a:rPr lang="en-US" sz="1800" i="1" kern="0" dirty="0">
                <a:effectLst/>
                <a:latin typeface="Calibri" panose="020F0502020204030204" pitchFamily="34" charset="0"/>
                <a:ea typeface="Times New Roman" panose="02020603050405020304" pitchFamily="18" charset="0"/>
              </a:rPr>
              <a:t>Field Effect Transistor Biosensor Using Antigen Binding Fragment for Detecting Tumor Marker in Human Serum </a:t>
            </a:r>
            <a:endParaRPr lang="en-US" dirty="0"/>
          </a:p>
        </p:txBody>
      </p:sp>
      <p:sp>
        <p:nvSpPr>
          <p:cNvPr id="6" name="Content Placeholder 5">
            <a:extLst>
              <a:ext uri="{FF2B5EF4-FFF2-40B4-BE49-F238E27FC236}">
                <a16:creationId xmlns:a16="http://schemas.microsoft.com/office/drawing/2014/main" id="{82231565-1574-91A0-3F0A-CC02AB5D7284}"/>
              </a:ext>
            </a:extLst>
          </p:cNvPr>
          <p:cNvSpPr>
            <a:spLocks noGrp="1"/>
          </p:cNvSpPr>
          <p:nvPr>
            <p:ph sz="quarter" idx="4"/>
          </p:nvPr>
        </p:nvSpPr>
        <p:spPr>
          <a:xfrm>
            <a:off x="6172200" y="2570773"/>
            <a:ext cx="5183188" cy="3684588"/>
          </a:xfrm>
        </p:spPr>
        <p:txBody>
          <a:bodyPr>
            <a:normAutofit/>
          </a:bodyPr>
          <a:lstStyle/>
          <a:p>
            <a:r>
              <a:rPr lang="en-IN" sz="1800" kern="0" dirty="0">
                <a:effectLst/>
                <a:latin typeface="Calibri" panose="020F0502020204030204" pitchFamily="34" charset="0"/>
                <a:ea typeface="Times New Roman" panose="02020603050405020304" pitchFamily="18" charset="0"/>
              </a:rPr>
              <a:t>When exposed to 1 </a:t>
            </a:r>
            <a:r>
              <a:rPr lang="en-IN" sz="1800" kern="0" dirty="0" err="1">
                <a:effectLst/>
                <a:latin typeface="Calibri" panose="020F0502020204030204" pitchFamily="34" charset="0"/>
                <a:ea typeface="Times New Roman" panose="02020603050405020304" pitchFamily="18" charset="0"/>
              </a:rPr>
              <a:t>μg</a:t>
            </a:r>
            <a:r>
              <a:rPr lang="en-IN" sz="1800" kern="0" dirty="0">
                <a:effectLst/>
                <a:latin typeface="Calibri" panose="020F0502020204030204" pitchFamily="34" charset="0"/>
                <a:ea typeface="Times New Roman" panose="02020603050405020304" pitchFamily="18" charset="0"/>
              </a:rPr>
              <a:t>/mL AFP, the Fab-immobilized FET exhibited a </a:t>
            </a:r>
            <a:r>
              <a:rPr lang="en-IN" sz="1800" kern="0" dirty="0" err="1">
                <a:effectLst/>
                <a:latin typeface="Calibri" panose="020F0502020204030204" pitchFamily="34" charset="0"/>
                <a:ea typeface="Times New Roman" panose="02020603050405020304" pitchFamily="18" charset="0"/>
              </a:rPr>
              <a:t>ΔVg</a:t>
            </a:r>
            <a:r>
              <a:rPr lang="en-IN" sz="1800" kern="0" dirty="0">
                <a:effectLst/>
                <a:latin typeface="Calibri" panose="020F0502020204030204" pitchFamily="34" charset="0"/>
                <a:ea typeface="Times New Roman" panose="02020603050405020304" pitchFamily="18" charset="0"/>
              </a:rPr>
              <a:t> of </a:t>
            </a:r>
            <a:r>
              <a:rPr lang="en-IN" sz="1800" b="1" kern="0" dirty="0">
                <a:effectLst/>
                <a:latin typeface="Calibri" panose="020F0502020204030204" pitchFamily="34" charset="0"/>
                <a:ea typeface="Times New Roman" panose="02020603050405020304" pitchFamily="18" charset="0"/>
              </a:rPr>
              <a:t>111 mV</a:t>
            </a:r>
            <a:r>
              <a:rPr lang="en-IN" sz="1800" kern="0" dirty="0">
                <a:effectLst/>
                <a:latin typeface="Calibri" panose="020F0502020204030204" pitchFamily="34" charset="0"/>
                <a:ea typeface="Times New Roman" panose="02020603050405020304" pitchFamily="18" charset="0"/>
              </a:rPr>
              <a:t>, significantly greater than the </a:t>
            </a:r>
            <a:r>
              <a:rPr lang="en-IN" sz="1800" b="1" kern="0" dirty="0">
                <a:effectLst/>
                <a:latin typeface="Calibri" panose="020F0502020204030204" pitchFamily="34" charset="0"/>
                <a:ea typeface="Times New Roman" panose="02020603050405020304" pitchFamily="18" charset="0"/>
              </a:rPr>
              <a:t>51 mV</a:t>
            </a:r>
            <a:r>
              <a:rPr lang="en-IN" sz="1800" kern="0" dirty="0">
                <a:effectLst/>
                <a:latin typeface="Calibri" panose="020F0502020204030204" pitchFamily="34" charset="0"/>
                <a:ea typeface="Times New Roman" panose="02020603050405020304" pitchFamily="18" charset="0"/>
              </a:rPr>
              <a:t> shift observed with the antibody-immobilized FET.</a:t>
            </a:r>
            <a:r>
              <a:rPr lang="en-IN" dirty="0">
                <a:effectLst/>
              </a:rPr>
              <a:t> </a:t>
            </a:r>
          </a:p>
          <a:p>
            <a:r>
              <a:rPr lang="en-IN" sz="1800" dirty="0">
                <a:effectLst/>
                <a:latin typeface="Calibri" panose="020F0502020204030204" pitchFamily="34" charset="0"/>
                <a:ea typeface="Times New Roman" panose="02020603050405020304" pitchFamily="18" charset="0"/>
                <a:cs typeface="Times New Roman" panose="02020603050405020304" pitchFamily="18" charset="0"/>
              </a:rPr>
              <a:t>The Fab-immobilized FET achieved a detection limit of </a:t>
            </a: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100 </a:t>
            </a:r>
            <a:r>
              <a:rPr lang="en-IN" sz="1800" b="1" dirty="0" err="1">
                <a:effectLst/>
                <a:latin typeface="Calibri" panose="020F0502020204030204" pitchFamily="34" charset="0"/>
                <a:ea typeface="Times New Roman" panose="02020603050405020304" pitchFamily="18" charset="0"/>
                <a:cs typeface="Times New Roman" panose="02020603050405020304" pitchFamily="18" charset="0"/>
              </a:rPr>
              <a:t>pg</a:t>
            </a: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/mL</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a tenfold improvement over the </a:t>
            </a: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10 ng/mL</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detection limit of antibody-immobilized FETs.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IN" sz="1800" kern="0" dirty="0">
                <a:effectLst/>
                <a:latin typeface="Calibri" panose="020F0502020204030204" pitchFamily="34" charset="0"/>
                <a:ea typeface="Times New Roman" panose="02020603050405020304" pitchFamily="18" charset="0"/>
              </a:rPr>
              <a:t>This represents a significant advancement, with detection completed within 60 minutes, far surpassing the time required for ELISA (approximately 3 hours).</a:t>
            </a:r>
            <a:r>
              <a:rPr lang="en-IN" dirty="0">
                <a:effectLst/>
              </a:rPr>
              <a:t> </a:t>
            </a:r>
            <a:endParaRPr lang="en-US" dirty="0"/>
          </a:p>
        </p:txBody>
      </p:sp>
      <p:sp>
        <p:nvSpPr>
          <p:cNvPr id="7" name="TextBox 6">
            <a:extLst>
              <a:ext uri="{FF2B5EF4-FFF2-40B4-BE49-F238E27FC236}">
                <a16:creationId xmlns:a16="http://schemas.microsoft.com/office/drawing/2014/main" id="{4F24874C-4268-B4CC-B704-81071BC99764}"/>
              </a:ext>
            </a:extLst>
          </p:cNvPr>
          <p:cNvSpPr txBox="1"/>
          <p:nvPr/>
        </p:nvSpPr>
        <p:spPr>
          <a:xfrm>
            <a:off x="836611" y="6369764"/>
            <a:ext cx="4422530" cy="246221"/>
          </a:xfrm>
          <a:prstGeom prst="rect">
            <a:avLst/>
          </a:prstGeom>
          <a:noFill/>
        </p:spPr>
        <p:txBody>
          <a:bodyPr wrap="square" rtlCol="0">
            <a:spAutoFit/>
          </a:bodyPr>
          <a:lstStyle/>
          <a:p>
            <a:r>
              <a:rPr lang="en-IN" sz="1000" u="sng" kern="0" dirty="0">
                <a:solidFill>
                  <a:srgbClr val="0563C1"/>
                </a:solidFill>
                <a:effectLst/>
                <a:latin typeface="Calibri" panose="020F0502020204030204" pitchFamily="34" charset="0"/>
                <a:ea typeface="Times New Roman" panose="02020603050405020304" pitchFamily="18" charset="0"/>
                <a:hlinkClick r:id="rId2"/>
              </a:rPr>
              <a:t>https://doi.org/10.3390/antib8010024</a:t>
            </a:r>
            <a:r>
              <a:rPr lang="en-IN" sz="1000" dirty="0">
                <a:effectLst/>
              </a:rPr>
              <a:t> </a:t>
            </a:r>
            <a:endParaRPr lang="en-US" sz="1000" dirty="0"/>
          </a:p>
        </p:txBody>
      </p:sp>
      <p:sp>
        <p:nvSpPr>
          <p:cNvPr id="8" name="TextBox 7">
            <a:extLst>
              <a:ext uri="{FF2B5EF4-FFF2-40B4-BE49-F238E27FC236}">
                <a16:creationId xmlns:a16="http://schemas.microsoft.com/office/drawing/2014/main" id="{9E23894A-3ECB-0E1A-C776-DB4458315855}"/>
              </a:ext>
            </a:extLst>
          </p:cNvPr>
          <p:cNvSpPr txBox="1"/>
          <p:nvPr/>
        </p:nvSpPr>
        <p:spPr>
          <a:xfrm>
            <a:off x="6172200" y="6354375"/>
            <a:ext cx="6022731" cy="246221"/>
          </a:xfrm>
          <a:prstGeom prst="rect">
            <a:avLst/>
          </a:prstGeom>
          <a:noFill/>
        </p:spPr>
        <p:txBody>
          <a:bodyPr wrap="square" rtlCol="0">
            <a:spAutoFit/>
          </a:bodyPr>
          <a:lstStyle/>
          <a:p>
            <a:r>
              <a:rPr lang="en-IN" sz="1000" u="sng" kern="0" dirty="0">
                <a:solidFill>
                  <a:srgbClr val="0563C1"/>
                </a:solidFill>
                <a:effectLst/>
                <a:latin typeface="Calibri" panose="020F0502020204030204" pitchFamily="34" charset="0"/>
                <a:ea typeface="Times New Roman" panose="02020603050405020304" pitchFamily="18" charset="0"/>
                <a:hlinkClick r:id="rId3"/>
              </a:rPr>
              <a:t>https://doi.org/10.3390/ma7042490</a:t>
            </a:r>
            <a:r>
              <a:rPr lang="en-IN" sz="1000" dirty="0">
                <a:effectLst/>
              </a:rPr>
              <a:t> </a:t>
            </a:r>
            <a:endParaRPr lang="en-US" sz="1000" dirty="0"/>
          </a:p>
        </p:txBody>
      </p:sp>
    </p:spTree>
    <p:extLst>
      <p:ext uri="{BB962C8B-B14F-4D97-AF65-F5344CB8AC3E}">
        <p14:creationId xmlns:p14="http://schemas.microsoft.com/office/powerpoint/2010/main" val="2666962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A54171-E366-0C6E-E3F6-B380FCDC23AE}"/>
              </a:ext>
            </a:extLst>
          </p:cNvPr>
          <p:cNvSpPr txBox="1"/>
          <p:nvPr/>
        </p:nvSpPr>
        <p:spPr>
          <a:xfrm>
            <a:off x="2559728" y="2705725"/>
            <a:ext cx="9632272" cy="1446550"/>
          </a:xfrm>
          <a:prstGeom prst="rect">
            <a:avLst/>
          </a:prstGeom>
          <a:noFill/>
        </p:spPr>
        <p:txBody>
          <a:bodyPr wrap="square" rtlCol="0">
            <a:spAutoFit/>
          </a:bodyPr>
          <a:lstStyle/>
          <a:p>
            <a:r>
              <a:rPr lang="en-US" sz="8800" dirty="0"/>
              <a:t>THANK YOU</a:t>
            </a:r>
          </a:p>
        </p:txBody>
      </p:sp>
    </p:spTree>
    <p:extLst>
      <p:ext uri="{BB962C8B-B14F-4D97-AF65-F5344CB8AC3E}">
        <p14:creationId xmlns:p14="http://schemas.microsoft.com/office/powerpoint/2010/main" val="129512301"/>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634</TotalTime>
  <Words>2743</Words>
  <Application>Microsoft Macintosh PowerPoint</Application>
  <PresentationFormat>Widescreen</PresentationFormat>
  <Paragraphs>146</Paragraphs>
  <Slides>16</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-apple-system</vt:lpstr>
      <vt:lpstr>Times</vt:lpstr>
      <vt:lpstr>Aptos</vt:lpstr>
      <vt:lpstr>Arial</vt:lpstr>
      <vt:lpstr>Calibri</vt:lpstr>
      <vt:lpstr>Helvetica</vt:lpstr>
      <vt:lpstr>Helvetica Neue</vt:lpstr>
      <vt:lpstr>Times New Roman</vt:lpstr>
      <vt:lpstr>Univers</vt:lpstr>
      <vt:lpstr>GradientVTI</vt:lpstr>
      <vt:lpstr>Development of Nanobiosensors to detect viral diseases</vt:lpstr>
      <vt:lpstr>Studying about G-FET</vt:lpstr>
      <vt:lpstr>To increase the FET Limit of Detection</vt:lpstr>
      <vt:lpstr>Diseases and their detectability</vt:lpstr>
      <vt:lpstr>Diseases and their detectability</vt:lpstr>
      <vt:lpstr>Researching Papers for Referral Dimensions</vt:lpstr>
      <vt:lpstr>Researching Papers for Referral Dimensions</vt:lpstr>
      <vt:lpstr>A Visit to CEERI and the Next Step</vt:lpstr>
      <vt:lpstr>Deducing a Fabrication Process</vt:lpstr>
      <vt:lpstr>A Step Forward</vt:lpstr>
      <vt:lpstr>Final Model Fabrication on TCAD</vt:lpstr>
      <vt:lpstr>Final Model Fabrication on TCAD</vt:lpstr>
      <vt:lpstr>Graph Analysis</vt:lpstr>
      <vt:lpstr>Graph Analysis</vt:lpstr>
      <vt:lpstr>Biomolecule Approach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Deepanshu Jain</dc:creator>
  <cp:lastModifiedBy>Deepanshu Jain</cp:lastModifiedBy>
  <cp:revision>5</cp:revision>
  <dcterms:created xsi:type="dcterms:W3CDTF">2024-11-18T17:45:35Z</dcterms:created>
  <dcterms:modified xsi:type="dcterms:W3CDTF">2024-11-28T11:14:09Z</dcterms:modified>
</cp:coreProperties>
</file>